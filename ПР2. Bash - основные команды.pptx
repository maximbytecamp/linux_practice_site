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0" r:id="rId1"/>
  </p:sldMasterIdLst>
  <p:notesMasterIdLst>
    <p:notesMasterId r:id="rId53"/>
  </p:notesMasterIdLst>
  <p:sldIdLst>
    <p:sldId id="258" r:id="rId2"/>
    <p:sldId id="306" r:id="rId3"/>
    <p:sldId id="270" r:id="rId4"/>
    <p:sldId id="282" r:id="rId5"/>
    <p:sldId id="269" r:id="rId6"/>
    <p:sldId id="271" r:id="rId7"/>
    <p:sldId id="272" r:id="rId8"/>
    <p:sldId id="274" r:id="rId9"/>
    <p:sldId id="273" r:id="rId10"/>
    <p:sldId id="275" r:id="rId11"/>
    <p:sldId id="276" r:id="rId12"/>
    <p:sldId id="277" r:id="rId13"/>
    <p:sldId id="307" r:id="rId14"/>
    <p:sldId id="279" r:id="rId15"/>
    <p:sldId id="278" r:id="rId16"/>
    <p:sldId id="281" r:id="rId17"/>
    <p:sldId id="283" r:id="rId18"/>
    <p:sldId id="288" r:id="rId19"/>
    <p:sldId id="287" r:id="rId20"/>
    <p:sldId id="284" r:id="rId21"/>
    <p:sldId id="289" r:id="rId22"/>
    <p:sldId id="285" r:id="rId23"/>
    <p:sldId id="297" r:id="rId24"/>
    <p:sldId id="286" r:id="rId25"/>
    <p:sldId id="290" r:id="rId26"/>
    <p:sldId id="319" r:id="rId27"/>
    <p:sldId id="291" r:id="rId28"/>
    <p:sldId id="292" r:id="rId29"/>
    <p:sldId id="293" r:id="rId30"/>
    <p:sldId id="320" r:id="rId31"/>
    <p:sldId id="301" r:id="rId32"/>
    <p:sldId id="325" r:id="rId33"/>
    <p:sldId id="280" r:id="rId34"/>
    <p:sldId id="299" r:id="rId35"/>
    <p:sldId id="302" r:id="rId36"/>
    <p:sldId id="308" r:id="rId37"/>
    <p:sldId id="321" r:id="rId38"/>
    <p:sldId id="300" r:id="rId39"/>
    <p:sldId id="303" r:id="rId40"/>
    <p:sldId id="322" r:id="rId41"/>
    <p:sldId id="295" r:id="rId42"/>
    <p:sldId id="305" r:id="rId43"/>
    <p:sldId id="323" r:id="rId44"/>
    <p:sldId id="309" r:id="rId45"/>
    <p:sldId id="324" r:id="rId46"/>
    <p:sldId id="298" r:id="rId47"/>
    <p:sldId id="326" r:id="rId48"/>
    <p:sldId id="327" r:id="rId49"/>
    <p:sldId id="328" r:id="rId50"/>
    <p:sldId id="318" r:id="rId51"/>
    <p:sldId id="268" r:id="rId5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Начало" id="{6CB2666C-2BAD-4087-8B80-19E5C58BE5BD}">
          <p14:sldIdLst>
            <p14:sldId id="258"/>
            <p14:sldId id="306"/>
            <p14:sldId id="270"/>
            <p14:sldId id="282"/>
          </p14:sldIdLst>
        </p14:section>
        <p14:section name="Команда и аргументы" id="{71208A09-BA61-4C0D-B9A4-1DF966BEE936}">
          <p14:sldIdLst>
            <p14:sldId id="269"/>
            <p14:sldId id="271"/>
            <p14:sldId id="272"/>
            <p14:sldId id="274"/>
            <p14:sldId id="273"/>
            <p14:sldId id="275"/>
            <p14:sldId id="276"/>
            <p14:sldId id="277"/>
            <p14:sldId id="307"/>
          </p14:sldIdLst>
        </p14:section>
        <p14:section name="Перемещение" id="{172E17E7-0758-4BB5-9EFD-31F505321A13}">
          <p14:sldIdLst>
            <p14:sldId id="279"/>
            <p14:sldId id="278"/>
            <p14:sldId id="281"/>
            <p14:sldId id="283"/>
            <p14:sldId id="288"/>
            <p14:sldId id="287"/>
            <p14:sldId id="284"/>
            <p14:sldId id="289"/>
            <p14:sldId id="285"/>
          </p14:sldIdLst>
        </p14:section>
        <p14:section name="Вывод информации" id="{1AA59D63-2838-4436-80B7-A53DA8A86B60}">
          <p14:sldIdLst>
            <p14:sldId id="297"/>
            <p14:sldId id="286"/>
            <p14:sldId id="290"/>
            <p14:sldId id="319"/>
            <p14:sldId id="291"/>
            <p14:sldId id="292"/>
            <p14:sldId id="293"/>
            <p14:sldId id="320"/>
            <p14:sldId id="301"/>
            <p14:sldId id="325"/>
          </p14:sldIdLst>
        </p14:section>
        <p14:section name="Файловая система" id="{F2F61692-C031-42AD-8257-ACD8E3413FB7}">
          <p14:sldIdLst>
            <p14:sldId id="280"/>
            <p14:sldId id="299"/>
            <p14:sldId id="302"/>
            <p14:sldId id="308"/>
            <p14:sldId id="321"/>
            <p14:sldId id="300"/>
            <p14:sldId id="303"/>
          </p14:sldIdLst>
        </p14:section>
        <p14:section name="Потоки" id="{EE73E2CE-483F-4831-87B4-CECBF3DBCD2B}">
          <p14:sldIdLst>
            <p14:sldId id="322"/>
            <p14:sldId id="295"/>
            <p14:sldId id="305"/>
            <p14:sldId id="323"/>
            <p14:sldId id="309"/>
            <p14:sldId id="324"/>
            <p14:sldId id="298"/>
            <p14:sldId id="326"/>
            <p14:sldId id="327"/>
            <p14:sldId id="328"/>
            <p14:sldId id="318"/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1669" autoAdjust="0"/>
  </p:normalViewPr>
  <p:slideViewPr>
    <p:cSldViewPr snapToGrid="0">
      <p:cViewPr varScale="1">
        <p:scale>
          <a:sx n="66" d="100"/>
          <a:sy n="66" d="100"/>
        </p:scale>
        <p:origin x="122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18D9F5-7440-45B8-B93B-F4135F1F863E}" type="datetimeFigureOut">
              <a:rPr lang="ru-RU" smtClean="0"/>
              <a:t>20.07.2025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418DE7-F931-4D6D-AD43-5448F1DB8117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640366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418DE7-F931-4D6D-AD43-5448F1DB8117}" type="slidenum">
              <a:rPr lang="ru-RU" smtClean="0"/>
              <a:t>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310937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418DE7-F931-4D6D-AD43-5448F1DB8117}" type="slidenum">
              <a:rPr lang="ru-RU" smtClean="0"/>
              <a:t>13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402142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Тип — один символ, определяющий тип файла:</a:t>
            </a:r>
          </a:p>
          <a:p>
            <a:pPr marL="171450" indent="-171450">
              <a:buFontTx/>
              <a:buChar char="-"/>
            </a:pPr>
            <a:r>
              <a:rPr lang="ru-RU" dirty="0"/>
              <a:t>«</a:t>
            </a:r>
            <a:r>
              <a:rPr lang="en-US" dirty="0"/>
              <a:t>d</a:t>
            </a:r>
            <a:r>
              <a:rPr lang="ru-RU" dirty="0"/>
              <a:t>»</a:t>
            </a:r>
            <a:r>
              <a:rPr lang="en-US" dirty="0"/>
              <a:t> </a:t>
            </a:r>
            <a:r>
              <a:rPr lang="ru-RU" dirty="0"/>
              <a:t>— каталог</a:t>
            </a:r>
          </a:p>
          <a:p>
            <a:pPr marL="171450" indent="-171450">
              <a:buFontTx/>
              <a:buChar char="-"/>
            </a:pPr>
            <a:r>
              <a:rPr lang="ru-RU" dirty="0"/>
              <a:t>«</a:t>
            </a:r>
            <a:r>
              <a:rPr lang="en-US" dirty="0"/>
              <a:t>l</a:t>
            </a:r>
            <a:r>
              <a:rPr lang="ru-RU" dirty="0"/>
              <a:t>»</a:t>
            </a:r>
            <a:r>
              <a:rPr lang="en-US" dirty="0"/>
              <a:t> </a:t>
            </a:r>
            <a:r>
              <a:rPr lang="ru-RU" dirty="0"/>
              <a:t>— ссылка</a:t>
            </a:r>
          </a:p>
          <a:p>
            <a:pPr marL="171450" indent="-171450">
              <a:buFontTx/>
              <a:buChar char="-"/>
            </a:pPr>
            <a:r>
              <a:rPr lang="ru-RU" dirty="0"/>
              <a:t>«-» — обычный файл (</a:t>
            </a:r>
            <a:r>
              <a:rPr lang="en-US" dirty="0"/>
              <a:t>regular file</a:t>
            </a:r>
            <a:r>
              <a:rPr lang="ru-RU" dirty="0"/>
              <a:t>)</a:t>
            </a:r>
          </a:p>
          <a:p>
            <a:pPr marL="0" indent="0">
              <a:buFontTx/>
              <a:buNone/>
            </a:pPr>
            <a:endParaRPr lang="ru-RU" dirty="0"/>
          </a:p>
          <a:p>
            <a:pPr marL="0" indent="0">
              <a:buFontTx/>
              <a:buNone/>
            </a:pPr>
            <a:r>
              <a:rPr lang="ru-RU" dirty="0"/>
              <a:t>Права — строка из 3 групп по три символа, определяющие права взаимодействия с данным файлом.</a:t>
            </a:r>
          </a:p>
          <a:p>
            <a:pPr marL="0" indent="0">
              <a:buFontTx/>
              <a:buNone/>
            </a:pPr>
            <a:r>
              <a:rPr lang="ru-RU" dirty="0"/>
              <a:t>Первая группа задает права владельца, вторая группа задает права группы, третья задает права всех остальных пользователей.</a:t>
            </a:r>
          </a:p>
          <a:p>
            <a:pPr marL="0" indent="0">
              <a:buFontTx/>
              <a:buNone/>
            </a:pPr>
            <a:r>
              <a:rPr lang="ru-RU" dirty="0"/>
              <a:t>В каждой группе имеется три права — чтение («</a:t>
            </a:r>
            <a:r>
              <a:rPr lang="en-US" dirty="0"/>
              <a:t>r</a:t>
            </a:r>
            <a:r>
              <a:rPr lang="ru-RU" dirty="0"/>
              <a:t>»</a:t>
            </a:r>
            <a:r>
              <a:rPr lang="en-US" dirty="0"/>
              <a:t> — read</a:t>
            </a:r>
            <a:r>
              <a:rPr lang="ru-RU" dirty="0"/>
              <a:t>), запись</a:t>
            </a:r>
            <a:r>
              <a:rPr lang="en-US" dirty="0"/>
              <a:t> (</a:t>
            </a:r>
            <a:r>
              <a:rPr lang="ru-RU" dirty="0"/>
              <a:t>«</a:t>
            </a:r>
            <a:r>
              <a:rPr lang="en-US" dirty="0"/>
              <a:t>w</a:t>
            </a:r>
            <a:r>
              <a:rPr lang="ru-RU" dirty="0"/>
              <a:t>»</a:t>
            </a:r>
            <a:r>
              <a:rPr lang="en-US" dirty="0"/>
              <a:t> — write)</a:t>
            </a:r>
            <a:r>
              <a:rPr lang="ru-RU" dirty="0"/>
              <a:t>, исполнение («</a:t>
            </a:r>
            <a:r>
              <a:rPr lang="en-US" dirty="0"/>
              <a:t>x</a:t>
            </a:r>
            <a:r>
              <a:rPr lang="ru-RU" dirty="0"/>
              <a:t>» — </a:t>
            </a:r>
            <a:r>
              <a:rPr lang="en-US" dirty="0"/>
              <a:t>execute</a:t>
            </a:r>
            <a:r>
              <a:rPr lang="ru-RU" dirty="0"/>
              <a:t>). Дефис означает отсутствие права, буква — наличие.</a:t>
            </a:r>
          </a:p>
          <a:p>
            <a:pPr marL="0" indent="0">
              <a:buFontTx/>
              <a:buNone/>
            </a:pPr>
            <a:endParaRPr lang="ru-RU" dirty="0"/>
          </a:p>
          <a:p>
            <a:pPr marL="0" indent="0">
              <a:buFontTx/>
              <a:buNone/>
            </a:pPr>
            <a:r>
              <a:rPr lang="ru-RU" dirty="0"/>
              <a:t>Ссылки — количество ссылок на этот файл во всей системе.</a:t>
            </a:r>
          </a:p>
          <a:p>
            <a:pPr marL="0" indent="0">
              <a:buFontTx/>
              <a:buNone/>
            </a:pPr>
            <a:endParaRPr lang="ru-RU" dirty="0"/>
          </a:p>
          <a:p>
            <a:pPr marL="0" indent="0">
              <a:buFontTx/>
              <a:buNone/>
            </a:pPr>
            <a:r>
              <a:rPr lang="ru-RU" dirty="0"/>
              <a:t>Остальное должно быть понятно.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418DE7-F931-4D6D-AD43-5448F1DB8117}" type="slidenum">
              <a:rPr lang="ru-RU" smtClean="0"/>
              <a:t>25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3678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418DE7-F931-4D6D-AD43-5448F1DB8117}" type="slidenum">
              <a:rPr lang="ru-RU" smtClean="0"/>
              <a:t>26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290569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418DE7-F931-4D6D-AD43-5448F1DB8117}" type="slidenum">
              <a:rPr lang="ru-RU" smtClean="0"/>
              <a:t>28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602470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418DE7-F931-4D6D-AD43-5448F1DB8117}" type="slidenum">
              <a:rPr lang="ru-RU" smtClean="0"/>
              <a:t>29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087143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418DE7-F931-4D6D-AD43-5448F1DB8117}" type="slidenum">
              <a:rPr lang="ru-RU" smtClean="0"/>
              <a:t>30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5324021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418DE7-F931-4D6D-AD43-5448F1DB8117}" type="slidenum">
              <a:rPr lang="ru-RU" smtClean="0"/>
              <a:t>31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342100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3418DE7-F931-4D6D-AD43-5448F1DB8117}" type="slidenum">
              <a:rPr lang="ru-RU" smtClean="0"/>
              <a:t>33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851160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3FB033-C513-3010-5849-5B58BEC9E7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00199"/>
            <a:ext cx="9144000" cy="2225567"/>
          </a:xfrm>
          <a:solidFill>
            <a:schemeClr val="bg1"/>
          </a:solidFill>
          <a:ln w="57150"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ctr">
            <a:normAutofit/>
          </a:bodyPr>
          <a:lstStyle>
            <a:lvl1pPr algn="ctr">
              <a:defRPr sz="48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Unbounded" pitchFamily="2" charset="-52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D9F6D7B-2551-B874-7F29-B532C0487D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11638"/>
            <a:ext cx="9144000" cy="1655762"/>
          </a:xfrm>
          <a:solidFill>
            <a:schemeClr val="bg1"/>
          </a:solidFill>
          <a:ln w="57150"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anchor="ctr"/>
          <a:lstStyle>
            <a:lvl1pPr marL="0" indent="0" algn="ctr">
              <a:buNone/>
              <a:defRPr sz="2400">
                <a:latin typeface="Consolas" panose="020B0609020204030204" pitchFamily="49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ru-RU" dirty="0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8899C78-2A7B-7836-F859-6D164A8830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fld id="{CAEE05A9-23CF-4580-9CEF-C9613F1AE098}" type="datetime1">
              <a:rPr lang="ru-RU" smtClean="0"/>
              <a:t>20.07.2025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F993AF0-631B-A285-207A-F56C66FFF0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ru-RU"/>
              <a:t>Практика №2</a:t>
            </a:r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CFAFB79-CBED-86FF-E0AB-1B3F692F4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ru-RU" dirty="0"/>
              <a:t>№ </a:t>
            </a:r>
            <a:fld id="{C2001F1C-8CC0-448F-B9F6-3DE357E128D5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023016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F5BA5F-C1BB-7B46-5367-E657294BFC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CFF2129-2B1B-16DF-9D30-79A412070D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4BA5052-A830-6ADE-5F2C-B9E698073A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F7B6D5-270F-4B0D-815F-83CCD790FC09}" type="datetime1">
              <a:rPr lang="ru-RU" smtClean="0"/>
              <a:t>20.07.2025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9BC0FE7-E95F-5FFE-4BEE-5E25B3E8F4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Практика №2</a:t>
            </a:r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6733D1B-F463-0138-2E3F-CFB7F77CE6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ru-RU" dirty="0"/>
              <a:t>№ </a:t>
            </a:r>
            <a:fld id="{C2001F1C-8CC0-448F-B9F6-3DE357E128D5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49830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A1BFA8-3607-013D-68DB-3843353C1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2431338"/>
          </a:xfrm>
        </p:spPr>
        <p:txBody>
          <a:bodyPr anchor="ctr"/>
          <a:lstStyle>
            <a:lvl1pPr algn="ctr">
              <a:defRPr sz="5400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9C22BDB-0886-DEE9-CD72-2887CF7330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  <a:latin typeface="Consolas" panose="020B0609020204030204" pitchFamily="49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00BD378-44BA-6127-1F00-1A94EAF135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568DE-62AF-41EE-AF94-ED4041F067DD}" type="datetime1">
              <a:rPr lang="ru-RU" smtClean="0"/>
              <a:t>20.07.2025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8E84BFB-6EC2-9473-FFF9-C3450CF02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Практика №2</a:t>
            </a:r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2162D4F-2595-21FF-66C8-8F0F6BE9D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ru-RU" dirty="0"/>
              <a:t>№ </a:t>
            </a:r>
            <a:fld id="{C2001F1C-8CC0-448F-B9F6-3DE357E128D5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989068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0D38D5-92D3-03AD-8BDC-6C7C95361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6A6295E-D623-997D-CF11-B0F33832D2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18089" y="1713186"/>
            <a:ext cx="5667704" cy="446377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D4C4593-5C5B-F94D-7AFD-F7C71107C1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6207" y="1713186"/>
            <a:ext cx="5667704" cy="446377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2227593-2E06-1EA0-EBB5-49023E071C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C28AB8-1182-4B5F-BC60-7D1D49880536}" type="datetime1">
              <a:rPr lang="ru-RU" smtClean="0"/>
              <a:t>20.07.2025</a:t>
            </a:fld>
            <a:endParaRPr lang="ru-RU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8ED4B23-7C76-13DC-9935-516FD67D70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Практика №2</a:t>
            </a:r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4D4C907-C919-07F5-E961-9C3C7DCF9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ru-RU" dirty="0"/>
              <a:t>№ </a:t>
            </a:r>
            <a:fld id="{C2001F1C-8CC0-448F-B9F6-3DE357E128D5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042612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FB94F1D2-9D34-2148-D1FF-C16E71D7C9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9167" y="1681163"/>
            <a:ext cx="5697647" cy="823912"/>
          </a:xfrm>
        </p:spPr>
        <p:txBody>
          <a:bodyPr anchor="ctr"/>
          <a:lstStyle>
            <a:lvl1pPr marL="0" indent="0" algn="ctr">
              <a:buNone/>
              <a:defRPr sz="2400" b="1">
                <a:latin typeface="Consolas" panose="020B0609020204030204" pitchFamily="49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0B91ADF-3B5B-02FD-61A2-492D37B86D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09167" y="2505075"/>
            <a:ext cx="569764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967D44C-D543-670C-01AF-704CB20D34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85186" y="1681163"/>
            <a:ext cx="5697647" cy="823912"/>
          </a:xfrm>
        </p:spPr>
        <p:txBody>
          <a:bodyPr anchor="ctr"/>
          <a:lstStyle>
            <a:lvl1pPr marL="0" indent="0" algn="ctr">
              <a:buNone/>
              <a:defRPr sz="2400" b="1">
                <a:latin typeface="Consolas" panose="020B0609020204030204" pitchFamily="49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C0D85482-F8B0-0EAA-2D51-718CBCD3C9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85186" y="2505075"/>
            <a:ext cx="569764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17E30729-D230-3AB9-C462-0FAD42503C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69BE9-E8DD-471D-8D7D-B20B2357F7BC}" type="datetime1">
              <a:rPr lang="ru-RU" smtClean="0"/>
              <a:t>20.07.2025</a:t>
            </a:fld>
            <a:endParaRPr lang="ru-RU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BD2F690-DF2C-E30D-C35A-3E05DCE29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Практика №2</a:t>
            </a:r>
            <a:endParaRPr lang="ru-RU" dirty="0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CEA218B2-3696-56BB-CD05-A51C98CB7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ru-RU" dirty="0"/>
              <a:t>№ </a:t>
            </a:r>
            <a:fld id="{C2001F1C-8CC0-448F-B9F6-3DE357E128D5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4711092B-8BD6-65FA-F1A3-466119D108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206" y="325822"/>
            <a:ext cx="8891752" cy="92606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585028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E679ED6-3D35-0762-C442-942AC502A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D7889B48-75A3-E8E2-AC34-F50C2BE78F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62431-B1E7-43CF-B01F-70589F526F03}" type="datetime1">
              <a:rPr lang="ru-RU" smtClean="0"/>
              <a:t>20.07.2025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2D6B1ED8-6A6F-E6D4-2DB4-71C93E388B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Практика №2</a:t>
            </a:r>
            <a:endParaRPr lang="ru-RU" dirty="0"/>
          </a:p>
        </p:txBody>
      </p:sp>
      <p:sp>
        <p:nvSpPr>
          <p:cNvPr id="7" name="Номер слайда 8">
            <a:extLst>
              <a:ext uri="{FF2B5EF4-FFF2-40B4-BE49-F238E27FC236}">
                <a16:creationId xmlns:a16="http://schemas.microsoft.com/office/drawing/2014/main" id="{8720165D-1DA8-68D2-C362-5BCE3C8EA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28082" y="6356350"/>
            <a:ext cx="2743200" cy="365125"/>
          </a:xfrm>
        </p:spPr>
        <p:txBody>
          <a:bodyPr/>
          <a:lstStyle/>
          <a:p>
            <a:r>
              <a:rPr lang="ru-RU" dirty="0"/>
              <a:t>№ </a:t>
            </a:r>
            <a:fld id="{C2001F1C-8CC0-448F-B9F6-3DE357E128D5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095489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BC7E2B8E-985E-D370-935C-EE8DA028D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0C11F-79BC-4494-BFB3-D07ECCBCE1FB}" type="datetime1">
              <a:rPr lang="ru-RU" smtClean="0"/>
              <a:t>20.07.2025</a:t>
            </a:fld>
            <a:endParaRPr lang="ru-RU" dirty="0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A02C6148-2AED-7D62-2705-C016474475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Практика №2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EBE75EA-67FF-12EA-E5BD-9DCC93A0E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ru-RU" dirty="0"/>
              <a:t>№ </a:t>
            </a:r>
            <a:fld id="{C2001F1C-8CC0-448F-B9F6-3DE357E128D5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659509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26FE62-0185-8805-D36C-636922A245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AC77FFA-66C5-3B2A-F137-92280404D9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450428"/>
            <a:ext cx="6756564" cy="441062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5220FDC-AD6E-AA11-14F9-62F09636D9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76D5160-7667-3EE3-E893-DDE3D55E1C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31911-C7B9-4E0B-9FD4-4139906A8FF3}" type="datetime1">
              <a:rPr lang="ru-RU" smtClean="0"/>
              <a:t>20.07.2025</a:t>
            </a:fld>
            <a:endParaRPr lang="ru-RU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6D7375E-63A6-D6E6-12AE-CFC5C587A3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Практика №2</a:t>
            </a:r>
            <a:endParaRPr lang="ru-RU" dirty="0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8F67AD8-A711-251A-054F-AA9AAD4AC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ru-RU" dirty="0"/>
              <a:t>№ </a:t>
            </a:r>
            <a:fld id="{C2001F1C-8CC0-448F-B9F6-3DE357E128D5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451772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Вопро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Текст 11">
            <a:extLst>
              <a:ext uri="{FF2B5EF4-FFF2-40B4-BE49-F238E27FC236}">
                <a16:creationId xmlns:a16="http://schemas.microsoft.com/office/drawing/2014/main" id="{B8390198-6995-1B20-D261-702AC2EC37B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74099" y="2462213"/>
            <a:ext cx="6779201" cy="3336925"/>
          </a:xfrm>
          <a:noFill/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5400" b="1">
                <a:ln w="12700">
                  <a:solidFill>
                    <a:sysClr val="windowText" lastClr="000000"/>
                  </a:solidFill>
                </a:ln>
                <a:solidFill>
                  <a:schemeClr val="bg1"/>
                </a:solidFill>
              </a:defRPr>
            </a:lvl1pPr>
            <a:lvl2pPr marL="457200" indent="0">
              <a:buNone/>
              <a:defRPr sz="4800" b="1">
                <a:ln w="12700">
                  <a:solidFill>
                    <a:sysClr val="windowText" lastClr="000000"/>
                  </a:solidFill>
                </a:ln>
                <a:solidFill>
                  <a:schemeClr val="bg1"/>
                </a:solidFill>
              </a:defRPr>
            </a:lvl2pPr>
            <a:lvl3pPr marL="914400" indent="0">
              <a:buNone/>
              <a:defRPr sz="4400" b="1">
                <a:ln w="12700">
                  <a:solidFill>
                    <a:sysClr val="windowText" lastClr="000000"/>
                  </a:solidFill>
                </a:ln>
                <a:solidFill>
                  <a:schemeClr val="bg1"/>
                </a:solidFill>
              </a:defRPr>
            </a:lvl3pPr>
            <a:lvl4pPr marL="1371600" indent="0">
              <a:buNone/>
              <a:defRPr sz="4000" b="1">
                <a:ln w="12700">
                  <a:solidFill>
                    <a:sysClr val="windowText" lastClr="000000"/>
                  </a:solidFill>
                </a:ln>
                <a:solidFill>
                  <a:schemeClr val="bg1"/>
                </a:solidFill>
              </a:defRPr>
            </a:lvl4pPr>
            <a:lvl5pPr marL="1828800" indent="0">
              <a:buNone/>
              <a:defRPr sz="4000" b="1">
                <a:ln w="12700">
                  <a:solidFill>
                    <a:sysClr val="windowText" lastClr="000000"/>
                  </a:solidFill>
                </a:ln>
                <a:solidFill>
                  <a:schemeClr val="bg1"/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F4FE32DF-D2CB-8B86-9937-E90FB83119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00CB8F-AC37-415E-B1AE-223EFE124F91}" type="datetime1">
              <a:rPr lang="ru-RU" smtClean="0"/>
              <a:t>20.07.2025</a:t>
            </a:fld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C90CA3F-113E-F9EE-A7EE-A7BB63E1E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Практика №2</a:t>
            </a:r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BCCA08A-A7FC-23A2-44F9-560F69698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ru-RU" dirty="0"/>
              <a:t>№ </a:t>
            </a:r>
            <a:fld id="{C2001F1C-8CC0-448F-B9F6-3DE357E128D5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202E520-3001-FCC6-233B-8C06C0B0AB17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0717" y="136525"/>
            <a:ext cx="2055951" cy="1973713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8F70E57-4A89-5861-30E8-AB4164893D76}"/>
              </a:ext>
            </a:extLst>
          </p:cNvPr>
          <p:cNvSpPr txBox="1"/>
          <p:nvPr/>
        </p:nvSpPr>
        <p:spPr>
          <a:xfrm>
            <a:off x="2508755" y="608379"/>
            <a:ext cx="6629346" cy="925200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 anchor="ctr">
            <a:spAutoFit/>
          </a:bodyPr>
          <a:lstStyle/>
          <a:p>
            <a:r>
              <a:rPr lang="ru-RU" sz="3600" dirty="0">
                <a:latin typeface="Unbounded" pitchFamily="2" charset="-52"/>
              </a:rPr>
              <a:t>Вопрос</a:t>
            </a:r>
            <a:endParaRPr lang="ru-RU" sz="4000" dirty="0">
              <a:latin typeface="Unbounded" pitchFamily="2" charset="-52"/>
            </a:endParaRPr>
          </a:p>
        </p:txBody>
      </p:sp>
      <p:sp>
        <p:nvSpPr>
          <p:cNvPr id="14" name="Рисунок 13">
            <a:extLst>
              <a:ext uri="{FF2B5EF4-FFF2-40B4-BE49-F238E27FC236}">
                <a16:creationId xmlns:a16="http://schemas.microsoft.com/office/drawing/2014/main" id="{A3F4166A-C012-A477-BC16-8DB714A3ADE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683500" y="2462213"/>
            <a:ext cx="4114800" cy="3336925"/>
          </a:xfrm>
          <a:noFill/>
          <a:ln>
            <a:noFill/>
          </a:ln>
        </p:spPr>
        <p:txBody>
          <a:bodyPr/>
          <a:lstStyle/>
          <a:p>
            <a:r>
              <a:rPr lang="ru-RU" dirty="0"/>
              <a:t>Вставка рисунка</a:t>
            </a:r>
          </a:p>
        </p:txBody>
      </p:sp>
    </p:spTree>
    <p:extLst>
      <p:ext uri="{BB962C8B-B14F-4D97-AF65-F5344CB8AC3E}">
        <p14:creationId xmlns:p14="http://schemas.microsoft.com/office/powerpoint/2010/main" val="7418004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0CAC07-83A1-E06E-D04E-F4CB20EBE5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206" y="325822"/>
            <a:ext cx="8891752" cy="926060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2F2864E-FF5F-0EDA-C8BE-DF4F3264D6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10205" y="1552356"/>
            <a:ext cx="11761077" cy="4617216"/>
          </a:xfrm>
          <a:prstGeom prst="rect">
            <a:avLst/>
          </a:prstGeom>
          <a:solidFill>
            <a:schemeClr val="bg1"/>
          </a:solidFill>
          <a:ln w="57150"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11276AB-ADC3-68AA-BDE5-94F2EC04F9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20718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fld id="{D1C160A6-62DB-44B1-851A-A9D8E7CD901E}" type="datetime1">
              <a:rPr lang="ru-RU" smtClean="0"/>
              <a:t>20.07.2025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008F6CF-3A53-1BA9-944C-AC5686155E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bg1"/>
                </a:solidFill>
                <a:latin typeface="Century Gothic" panose="020B0502020202020204" pitchFamily="34" charset="0"/>
              </a:defRPr>
            </a:lvl1pPr>
          </a:lstStyle>
          <a:p>
            <a:r>
              <a:rPr lang="ru-RU"/>
              <a:t>Практика №2</a:t>
            </a:r>
            <a:endParaRPr lang="ru-RU" dirty="0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538165E-B1D7-F4D6-990D-F10991D806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28082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bg1"/>
                </a:solidFill>
                <a:effectLst/>
                <a:latin typeface="Century Gothic" panose="020B0502020202020204" pitchFamily="34" charset="0"/>
              </a:defRPr>
            </a:lvl1pPr>
          </a:lstStyle>
          <a:p>
            <a:r>
              <a:rPr lang="ru-RU" dirty="0"/>
              <a:t>№ </a:t>
            </a:r>
            <a:fld id="{C2001F1C-8CC0-448F-B9F6-3DE357E128D5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070784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Unbounded" pitchFamily="2" charset="-52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D7190472-062B-A78F-E867-8D46EB531A5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ru-RU" sz="3600" dirty="0"/>
              <a:t>Командная оболочка </a:t>
            </a:r>
            <a:r>
              <a:rPr lang="en-US" sz="3600" dirty="0"/>
              <a:t>Bash</a:t>
            </a:r>
            <a:br>
              <a:rPr lang="ru-RU" sz="3600" dirty="0"/>
            </a:br>
            <a:r>
              <a:rPr lang="ru-RU" sz="3600" dirty="0"/>
              <a:t>(часть 1)</a:t>
            </a:r>
            <a:br>
              <a:rPr lang="ru-RU" sz="3600" dirty="0"/>
            </a:br>
            <a:br>
              <a:rPr lang="ru-RU" sz="1400" dirty="0"/>
            </a:br>
            <a:r>
              <a:rPr lang="ru-RU" sz="2800" dirty="0"/>
              <a:t>Терминал </a:t>
            </a:r>
            <a:r>
              <a:rPr lang="en-US" sz="2800" dirty="0"/>
              <a:t>Ubuntu Server</a:t>
            </a:r>
            <a:br>
              <a:rPr lang="en-US" sz="2800" dirty="0"/>
            </a:br>
            <a:r>
              <a:rPr lang="ru-RU" sz="2800" dirty="0"/>
              <a:t>Основные команды</a:t>
            </a:r>
            <a:endParaRPr lang="ru-RU" sz="3600" dirty="0"/>
          </a:p>
        </p:txBody>
      </p:sp>
      <p:sp>
        <p:nvSpPr>
          <p:cNvPr id="7" name="Подзаголовок 6">
            <a:extLst>
              <a:ext uri="{FF2B5EF4-FFF2-40B4-BE49-F238E27FC236}">
                <a16:creationId xmlns:a16="http://schemas.microsoft.com/office/drawing/2014/main" id="{709C2C68-18A0-6000-760A-39D5BA44736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Операционные системы и среды. Практика</a:t>
            </a: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1357064-C60B-F379-81D6-2B88745766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Практика №2</a:t>
            </a:r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EC19E04-FF66-4A2F-E6D6-11139E263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ru-RU" dirty="0"/>
              <a:t>№ </a:t>
            </a:r>
            <a:fld id="{C2001F1C-8CC0-448F-B9F6-3DE357E128D5}" type="slidenum">
              <a:rPr lang="ru-RU" smtClean="0"/>
              <a:pPr/>
              <a:t>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9857946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D7711EB-4482-66D1-D9F0-F0EB76F0F4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Легенда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DB8D067-9EFC-8D51-9DF6-AC986C34AB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58775" indent="-358775">
              <a:spcAft>
                <a:spcPts val="2000"/>
              </a:spcAft>
            </a:pPr>
            <a:r>
              <a:rPr lang="ru-RU" sz="4000" dirty="0"/>
              <a:t>Ниже приведены несколько встречающихся обозначений:</a:t>
            </a:r>
          </a:p>
          <a:p>
            <a:pPr marL="717550" indent="-358775">
              <a:tabLst>
                <a:tab pos="1076325" algn="l"/>
              </a:tabLst>
            </a:pPr>
            <a:r>
              <a:rPr lang="ru-RU" sz="4000" dirty="0"/>
              <a:t>	— пояснение</a:t>
            </a:r>
          </a:p>
          <a:p>
            <a:pPr marL="717550" indent="-358775">
              <a:buClr>
                <a:srgbClr val="FF0000"/>
              </a:buClr>
              <a:buFont typeface="Times New Roman" panose="02020603050405020304" pitchFamily="18" charset="0"/>
              <a:buChar char="⁕"/>
              <a:tabLst>
                <a:tab pos="1076325" algn="l"/>
              </a:tabLst>
            </a:pPr>
            <a:r>
              <a:rPr lang="ru-RU" sz="4000" dirty="0"/>
              <a:t>	— важное пояснение</a:t>
            </a:r>
          </a:p>
          <a:p>
            <a:pPr marL="717550" indent="-358775">
              <a:buClr>
                <a:schemeClr val="accent1"/>
              </a:buClr>
              <a:buFont typeface="Arial" panose="020B0604020202020204" pitchFamily="34" charset="0"/>
              <a:buChar char="☼"/>
              <a:tabLst>
                <a:tab pos="1076325" algn="l"/>
              </a:tabLst>
            </a:pPr>
            <a:r>
              <a:rPr lang="ru-RU" sz="4000" dirty="0"/>
              <a:t>	— задача</a:t>
            </a:r>
          </a:p>
          <a:p>
            <a:pPr marL="717550" indent="-358775">
              <a:buClr>
                <a:srgbClr val="FF0000"/>
              </a:buClr>
              <a:buFont typeface="Arial" panose="020B0604020202020204" pitchFamily="34" charset="0"/>
              <a:buChar char="☼"/>
              <a:tabLst>
                <a:tab pos="1076325" algn="l"/>
              </a:tabLst>
            </a:pPr>
            <a:r>
              <a:rPr lang="ru-RU" sz="4000" dirty="0"/>
              <a:t>	— усложненная задача</a:t>
            </a: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C55D8050-9B12-112F-5955-BA574906A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Практика №2</a:t>
            </a:r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BA4C03B-5D30-7E30-CDE2-8F10F2A42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ru-RU"/>
              <a:t>№ </a:t>
            </a:r>
            <a:fld id="{C2001F1C-8CC0-448F-B9F6-3DE357E128D5}" type="slidenum">
              <a:rPr lang="ru-RU" smtClean="0"/>
              <a:pPr/>
              <a:t>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327000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B26C54-3A22-90CE-CA25-E12BED540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Начало работы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199E973-8EC9-47FC-3123-44C0763FF0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Перед тем, как начать, запустите виртуальную машину с </a:t>
            </a:r>
            <a:r>
              <a:rPr lang="en-US" dirty="0"/>
              <a:t>Ubuntu Server</a:t>
            </a:r>
            <a:r>
              <a:rPr lang="ru-RU" dirty="0"/>
              <a:t>.</a:t>
            </a:r>
          </a:p>
          <a:p>
            <a:r>
              <a:rPr lang="ru-RU" dirty="0"/>
              <a:t>На начальном экране перед</a:t>
            </a:r>
            <a:br>
              <a:rPr lang="ru-RU" dirty="0"/>
            </a:br>
            <a:r>
              <a:rPr lang="ru-RU" dirty="0"/>
              <a:t>вами должно быть окно входа,</a:t>
            </a:r>
            <a:br>
              <a:rPr lang="ru-RU" dirty="0"/>
            </a:br>
            <a:r>
              <a:rPr lang="ru-RU" dirty="0"/>
              <a:t>куда нужно ввести имя</a:t>
            </a:r>
            <a:br>
              <a:rPr lang="ru-RU" dirty="0"/>
            </a:br>
            <a:r>
              <a:rPr lang="ru-RU" dirty="0"/>
              <a:t>пользователя и пароль, чтобы</a:t>
            </a:r>
            <a:br>
              <a:rPr lang="ru-RU" dirty="0"/>
            </a:br>
            <a:r>
              <a:rPr lang="ru-RU" dirty="0"/>
              <a:t>можно было пользоваться</a:t>
            </a:r>
            <a:br>
              <a:rPr lang="ru-RU" dirty="0"/>
            </a:br>
            <a:r>
              <a:rPr lang="ru-RU" dirty="0"/>
              <a:t>терминалом.</a:t>
            </a:r>
          </a:p>
          <a:p>
            <a:r>
              <a:rPr lang="ru-RU" dirty="0"/>
              <a:t>Введите указанные при</a:t>
            </a:r>
            <a:br>
              <a:rPr lang="ru-RU" dirty="0"/>
            </a:br>
            <a:r>
              <a:rPr lang="ru-RU" dirty="0"/>
              <a:t>установке данные. Не пугайтесь</a:t>
            </a:r>
            <a:br>
              <a:rPr lang="ru-RU" dirty="0"/>
            </a:br>
            <a:r>
              <a:rPr lang="ru-RU" dirty="0"/>
              <a:t>отсутствию отображаемых</a:t>
            </a:r>
            <a:br>
              <a:rPr lang="ru-RU" dirty="0"/>
            </a:br>
            <a:r>
              <a:rPr lang="ru-RU" dirty="0"/>
              <a:t>символов пароля. Так и надо.</a:t>
            </a: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BEC41A15-B65E-BEA8-3A38-09F5A2CC29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Практика №2</a:t>
            </a:r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B024FF2-99F3-AEC8-BAE9-FDC84B639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ru-RU"/>
              <a:t>№ </a:t>
            </a:r>
            <a:fld id="{C2001F1C-8CC0-448F-B9F6-3DE357E128D5}" type="slidenum">
              <a:rPr lang="ru-RU" smtClean="0"/>
              <a:pPr/>
              <a:t>3</a:t>
            </a:fld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6154024-05EC-CF2C-DA63-6F64D7B8FB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3037489"/>
            <a:ext cx="5470847" cy="1872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44421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5608AF-42C3-E8DE-E29A-3E279E2AF4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Начало работы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D371B7E-49A1-6043-8CAD-7FF397AD18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После введения информации вас встречает командная строка.</a:t>
            </a:r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endParaRPr lang="ru-RU" dirty="0"/>
          </a:p>
          <a:p>
            <a:r>
              <a:rPr lang="ru-RU" dirty="0"/>
              <a:t>Ваши команды будут записываться после странной строки со знаком доллара </a:t>
            </a:r>
            <a:r>
              <a:rPr lang="en-US" dirty="0"/>
              <a:t>$ </a:t>
            </a:r>
            <a:r>
              <a:rPr lang="ru-RU" dirty="0"/>
              <a:t>на конце. Она имеет достаточно понятный синтаксис:</a:t>
            </a:r>
          </a:p>
          <a:p>
            <a:pPr marL="0" indent="0" algn="ctr">
              <a:buNone/>
            </a:pPr>
            <a:r>
              <a:rPr lang="ru-RU" b="1" dirty="0">
                <a:solidFill>
                  <a:srgbClr val="FF0000"/>
                </a:solidFill>
                <a:latin typeface="Consolas" panose="020B0609020204030204" pitchFamily="49" charset="0"/>
              </a:rPr>
              <a:t>имя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_</a:t>
            </a:r>
            <a:r>
              <a:rPr lang="ru-RU" b="1" dirty="0">
                <a:solidFill>
                  <a:srgbClr val="FF0000"/>
                </a:solidFill>
                <a:latin typeface="Consolas" panose="020B0609020204030204" pitchFamily="49" charset="0"/>
              </a:rPr>
              <a:t>пользователя</a:t>
            </a:r>
            <a:r>
              <a:rPr lang="en-US" dirty="0">
                <a:latin typeface="Consolas" panose="020B0609020204030204" pitchFamily="49" charset="0"/>
              </a:rPr>
              <a:t>@</a:t>
            </a:r>
            <a:r>
              <a:rPr lang="ru-RU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имя_машины</a:t>
            </a:r>
            <a:r>
              <a:rPr lang="en-US" dirty="0">
                <a:latin typeface="Consolas" panose="020B0609020204030204" pitchFamily="49" charset="0"/>
              </a:rPr>
              <a:t>:</a:t>
            </a:r>
            <a:r>
              <a:rPr lang="en-US" b="1" dirty="0">
                <a:solidFill>
                  <a:srgbClr val="0070C0"/>
                </a:solidFill>
                <a:latin typeface="Consolas" panose="020B0609020204030204" pitchFamily="49" charset="0"/>
              </a:rPr>
              <a:t>~</a:t>
            </a:r>
            <a:r>
              <a:rPr lang="en-US" b="1" dirty="0">
                <a:solidFill>
                  <a:schemeClr val="accent4"/>
                </a:solidFill>
                <a:latin typeface="Consolas" panose="020B0609020204030204" pitchFamily="49" charset="0"/>
              </a:rPr>
              <a:t>$</a:t>
            </a:r>
            <a:endParaRPr lang="ru-RU" b="1" dirty="0">
              <a:solidFill>
                <a:schemeClr val="accent4"/>
              </a:solidFill>
              <a:latin typeface="Consolas" panose="020B0609020204030204" pitchFamily="49" charset="0"/>
            </a:endParaRPr>
          </a:p>
          <a:p>
            <a:r>
              <a:rPr lang="ru-RU" dirty="0"/>
              <a:t>Другие разноцветные записи нас заинтересуют попозже…</a:t>
            </a:r>
          </a:p>
          <a:p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2F8AD6F3-FB3C-38C0-3B42-76D406A4CD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Практика №2</a:t>
            </a:r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4B896C8-020D-4242-F700-AB33CCB03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ru-RU"/>
              <a:t>№ </a:t>
            </a:r>
            <a:fld id="{C2001F1C-8CC0-448F-B9F6-3DE357E128D5}" type="slidenum">
              <a:rPr lang="ru-RU" smtClean="0"/>
              <a:pPr/>
              <a:t>4</a:t>
            </a:fld>
            <a:endParaRPr lang="ru-RU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CE34C870-1ECC-CBB0-786B-588D742354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1071" y="2130517"/>
            <a:ext cx="7509858" cy="2000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08896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81451525-2815-2564-669A-8171B668F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Командная оболочка </a:t>
            </a:r>
            <a:r>
              <a:rPr lang="en-US" dirty="0"/>
              <a:t>Bash</a:t>
            </a:r>
            <a:endParaRPr lang="ru-RU" dirty="0"/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E8699CAC-B948-0505-700D-EFACC5074A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Вывод информации о системе</a:t>
            </a:r>
          </a:p>
          <a:p>
            <a:r>
              <a:rPr lang="ru-RU" dirty="0"/>
              <a:t>Понятие команды и аргументов</a:t>
            </a: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A83CAEA1-74A0-25DF-F5AC-728708522D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Практика №2</a:t>
            </a:r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944059D-498F-CBD1-3CDB-AFD39C1062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ru-RU"/>
              <a:t>№ </a:t>
            </a:r>
            <a:fld id="{C2001F1C-8CC0-448F-B9F6-3DE357E128D5}" type="slidenum">
              <a:rPr lang="ru-RU" smtClean="0"/>
              <a:pPr/>
              <a:t>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816613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96DFD8E8-82DC-930B-8380-D046B01A5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Узнать информацию о системе</a:t>
            </a:r>
          </a:p>
        </p:txBody>
      </p:sp>
      <p:sp>
        <p:nvSpPr>
          <p:cNvPr id="7" name="Объект 6">
            <a:extLst>
              <a:ext uri="{FF2B5EF4-FFF2-40B4-BE49-F238E27FC236}">
                <a16:creationId xmlns:a16="http://schemas.microsoft.com/office/drawing/2014/main" id="{92740113-48A3-D947-4B27-AFDCD203DD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Первое, что мы сделаем, это узнаем информацию о системе. Для этого воспользуемся командой</a:t>
            </a:r>
          </a:p>
          <a:p>
            <a:pPr marL="0" indent="0" algn="ctr">
              <a:buNone/>
            </a:pPr>
            <a:r>
              <a:rPr lang="en-US" dirty="0" err="1">
                <a:latin typeface="Consolas" panose="020B0609020204030204" pitchFamily="49" charset="0"/>
              </a:rPr>
              <a:t>uname</a:t>
            </a:r>
            <a:endParaRPr lang="ru-RU" dirty="0">
              <a:latin typeface="Consolas" panose="020B0609020204030204" pitchFamily="49" charset="0"/>
            </a:endParaRPr>
          </a:p>
          <a:p>
            <a:r>
              <a:rPr lang="ru-RU" dirty="0"/>
              <a:t>Вывод команды будет достаточно скромный.</a:t>
            </a:r>
          </a:p>
          <a:p>
            <a:r>
              <a:rPr lang="ru-RU" dirty="0"/>
              <a:t>Для того, чтобы узнать всю информацию о системе, необходимо использовать команду</a:t>
            </a:r>
          </a:p>
          <a:p>
            <a:pPr marL="0" indent="0" algn="ctr">
              <a:buNone/>
            </a:pPr>
            <a:r>
              <a:rPr lang="en-US" dirty="0" err="1">
                <a:latin typeface="Consolas" panose="020B0609020204030204" pitchFamily="49" charset="0"/>
              </a:rPr>
              <a:t>uname</a:t>
            </a:r>
            <a:r>
              <a:rPr lang="en-US" dirty="0">
                <a:latin typeface="Consolas" panose="020B0609020204030204" pitchFamily="49" charset="0"/>
              </a:rPr>
              <a:t> -a</a:t>
            </a:r>
            <a:endParaRPr lang="ru-RU" dirty="0">
              <a:latin typeface="Consolas" panose="020B0609020204030204" pitchFamily="49" charset="0"/>
            </a:endParaRPr>
          </a:p>
          <a:p>
            <a:r>
              <a:rPr lang="ru-RU" dirty="0"/>
              <a:t>Данная команда не является отдельной, а представляет собой составную команду из основной части </a:t>
            </a:r>
            <a:r>
              <a:rPr lang="en-US" dirty="0" err="1">
                <a:latin typeface="Consolas" panose="020B0609020204030204" pitchFamily="49" charset="0"/>
              </a:rPr>
              <a:t>uname</a:t>
            </a:r>
            <a:r>
              <a:rPr lang="en-US" dirty="0"/>
              <a:t> </a:t>
            </a:r>
            <a:r>
              <a:rPr lang="ru-RU" dirty="0"/>
              <a:t>и аргумента </a:t>
            </a:r>
            <a:r>
              <a:rPr lang="en-US" dirty="0">
                <a:latin typeface="Consolas" panose="020B0609020204030204" pitchFamily="49" charset="0"/>
              </a:rPr>
              <a:t>-a</a:t>
            </a:r>
            <a:r>
              <a:rPr lang="ru-RU" dirty="0"/>
              <a:t>.</a:t>
            </a: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B7178914-C7DD-D038-E190-5D3DD629CE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Практика №2</a:t>
            </a:r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4C4A454-BEDA-A171-AAD3-941FF4A0A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ru-RU"/>
              <a:t>№ </a:t>
            </a:r>
            <a:fld id="{C2001F1C-8CC0-448F-B9F6-3DE357E128D5}" type="slidenum">
              <a:rPr lang="ru-RU" smtClean="0"/>
              <a:pPr/>
              <a:t>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269417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2BE51F-9B17-0A07-F556-8261A88198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Использование любой команды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AC0506C-2412-9581-8E08-2FC84FFB31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Итак, в командных оболочках, в том числе </a:t>
            </a:r>
            <a:r>
              <a:rPr lang="en-US" dirty="0"/>
              <a:t>Bash</a:t>
            </a:r>
            <a:r>
              <a:rPr lang="ru-RU" dirty="0"/>
              <a:t>,</a:t>
            </a:r>
            <a:r>
              <a:rPr lang="en-US" dirty="0"/>
              <a:t> </a:t>
            </a:r>
            <a:r>
              <a:rPr lang="ru-RU" dirty="0"/>
              <a:t>любую команду можно условно представить в виде основной части команды и некоторого списка ее аргументов, </a:t>
            </a:r>
            <a:r>
              <a:rPr lang="ru-RU" b="1" dirty="0"/>
              <a:t>разделенных</a:t>
            </a:r>
            <a:r>
              <a:rPr lang="ru-RU" dirty="0"/>
              <a:t> </a:t>
            </a:r>
            <a:r>
              <a:rPr lang="ru-RU" b="1" dirty="0"/>
              <a:t>пробелом</a:t>
            </a:r>
            <a:r>
              <a:rPr lang="ru-RU" dirty="0"/>
              <a:t>. Это </a:t>
            </a:r>
            <a:r>
              <a:rPr lang="ru-RU" u="sng" dirty="0"/>
              <a:t>принципиально важное замечание</a:t>
            </a:r>
            <a:r>
              <a:rPr lang="ru-RU" dirty="0"/>
              <a:t> в дальнейшем будет полезно вспомнить:</a:t>
            </a:r>
          </a:p>
          <a:p>
            <a:pPr marL="0" indent="0" algn="ctr">
              <a:buNone/>
            </a:pPr>
            <a:r>
              <a:rPr lang="en-US" dirty="0">
                <a:solidFill>
                  <a:schemeClr val="accent6"/>
                </a:solidFill>
                <a:latin typeface="Consolas" panose="020B0609020204030204" pitchFamily="49" charset="0"/>
              </a:rPr>
              <a:t>{</a:t>
            </a:r>
            <a:r>
              <a:rPr lang="ru-RU" dirty="0">
                <a:solidFill>
                  <a:schemeClr val="accent6"/>
                </a:solidFill>
                <a:latin typeface="Consolas" panose="020B0609020204030204" pitchFamily="49" charset="0"/>
              </a:rPr>
              <a:t>команда</a:t>
            </a:r>
            <a:r>
              <a:rPr lang="en-US" dirty="0">
                <a:solidFill>
                  <a:schemeClr val="accent6"/>
                </a:solidFill>
                <a:latin typeface="Consolas" panose="020B0609020204030204" pitchFamily="49" charset="0"/>
              </a:rPr>
              <a:t>}</a:t>
            </a:r>
            <a:r>
              <a:rPr lang="ru-RU" dirty="0"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[</a:t>
            </a:r>
            <a:r>
              <a:rPr lang="ru-RU" dirty="0">
                <a:solidFill>
                  <a:schemeClr val="accent1"/>
                </a:solidFill>
                <a:latin typeface="Consolas" panose="020B0609020204030204" pitchFamily="49" charset="0"/>
              </a:rPr>
              <a:t>аргументы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]…</a:t>
            </a:r>
          </a:p>
          <a:p>
            <a:pPr>
              <a:buClr>
                <a:srgbClr val="FF0000"/>
              </a:buClr>
              <a:buFont typeface="Times New Roman" panose="02020603050405020304" pitchFamily="18" charset="0"/>
              <a:buChar char="⁕"/>
            </a:pPr>
            <a:r>
              <a:rPr lang="ru-RU" dirty="0"/>
              <a:t>В данном случае обозначение </a:t>
            </a:r>
            <a:r>
              <a:rPr lang="en-US" dirty="0"/>
              <a:t>{</a:t>
            </a:r>
            <a:r>
              <a:rPr lang="ru-RU" i="1" dirty="0"/>
              <a:t>определение</a:t>
            </a:r>
            <a:r>
              <a:rPr lang="en-US" dirty="0"/>
              <a:t>}</a:t>
            </a:r>
            <a:r>
              <a:rPr lang="ru-RU" dirty="0"/>
              <a:t> говорит об обязательном использовании некоторого любого </a:t>
            </a:r>
            <a:r>
              <a:rPr lang="ru-RU" i="1" dirty="0"/>
              <a:t>определения</a:t>
            </a:r>
            <a:r>
              <a:rPr lang="ru-RU" dirty="0"/>
              <a:t>.</a:t>
            </a:r>
          </a:p>
          <a:p>
            <a:pPr>
              <a:buClr>
                <a:srgbClr val="FF0000"/>
              </a:buClr>
              <a:buFont typeface="Times New Roman" panose="02020603050405020304" pitchFamily="18" charset="0"/>
              <a:buChar char="⁕"/>
            </a:pPr>
            <a:r>
              <a:rPr lang="ru-RU" dirty="0"/>
              <a:t>Обозначение </a:t>
            </a:r>
            <a:r>
              <a:rPr lang="en-US" dirty="0"/>
              <a:t>[</a:t>
            </a:r>
            <a:r>
              <a:rPr lang="ru-RU" i="1" dirty="0"/>
              <a:t>определение</a:t>
            </a:r>
            <a:r>
              <a:rPr lang="en-US" dirty="0"/>
              <a:t>]</a:t>
            </a:r>
            <a:r>
              <a:rPr lang="ru-RU" dirty="0"/>
              <a:t> соответствует необязательному использованию </a:t>
            </a:r>
            <a:r>
              <a:rPr lang="ru-RU" i="1" dirty="0"/>
              <a:t>определения</a:t>
            </a:r>
            <a:r>
              <a:rPr lang="ru-RU" dirty="0"/>
              <a:t>.</a:t>
            </a:r>
          </a:p>
          <a:p>
            <a:pPr>
              <a:buClr>
                <a:srgbClr val="FF0000"/>
              </a:buClr>
              <a:buFont typeface="Times New Roman" panose="02020603050405020304" pitchFamily="18" charset="0"/>
              <a:buChar char="⁕"/>
            </a:pPr>
            <a:r>
              <a:rPr lang="ru-RU" dirty="0"/>
              <a:t>Троеточие … говорит о том, что таких </a:t>
            </a:r>
            <a:r>
              <a:rPr lang="ru-RU" i="1" dirty="0"/>
              <a:t>определений</a:t>
            </a:r>
            <a:r>
              <a:rPr lang="ru-RU" dirty="0"/>
              <a:t> может быть несколько.</a:t>
            </a:r>
          </a:p>
          <a:p>
            <a:pPr>
              <a:buClr>
                <a:srgbClr val="FF0000"/>
              </a:buClr>
              <a:buFont typeface="Times New Roman" panose="02020603050405020304" pitchFamily="18" charset="0"/>
              <a:buChar char="⁕"/>
            </a:pPr>
            <a:r>
              <a:rPr lang="ru-RU" dirty="0"/>
              <a:t>Если </a:t>
            </a:r>
            <a:r>
              <a:rPr lang="ru-RU" i="1" dirty="0"/>
              <a:t>определение</a:t>
            </a:r>
            <a:r>
              <a:rPr lang="ru-RU" dirty="0"/>
              <a:t> не включено в скобки, его нужно писать как есть.</a:t>
            </a:r>
            <a:endParaRPr lang="ru-RU" i="1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000E5AB0-CC5E-3158-8E95-90A1B34D16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Практика №2</a:t>
            </a:r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98BCBB6-4386-A280-B8FA-DD0F83820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ru-RU"/>
              <a:t>№ </a:t>
            </a:r>
            <a:fld id="{C2001F1C-8CC0-448F-B9F6-3DE357E128D5}" type="slidenum">
              <a:rPr lang="ru-RU" smtClean="0"/>
              <a:pPr/>
              <a:t>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865704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F714B0-ED79-E52F-E10E-397329EC1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Использование любой команды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26E1364-273F-098C-E698-562EA223E2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0205" y="1552356"/>
            <a:ext cx="11761077" cy="728728"/>
          </a:xfrm>
        </p:spPr>
        <p:txBody>
          <a:bodyPr/>
          <a:lstStyle/>
          <a:p>
            <a:r>
              <a:rPr lang="ru-RU" dirty="0"/>
              <a:t>Аргументы могут быть трех видов: </a:t>
            </a:r>
            <a:r>
              <a:rPr lang="ru-RU" i="1" dirty="0"/>
              <a:t>позиционные</a:t>
            </a:r>
            <a:r>
              <a:rPr lang="ru-RU" dirty="0"/>
              <a:t>, </a:t>
            </a:r>
            <a:r>
              <a:rPr lang="ru-RU" i="1" dirty="0"/>
              <a:t>короткие</a:t>
            </a:r>
            <a:r>
              <a:rPr lang="ru-RU" dirty="0"/>
              <a:t> и </a:t>
            </a:r>
            <a:r>
              <a:rPr lang="ru-RU" i="1" dirty="0"/>
              <a:t>длинные</a:t>
            </a:r>
            <a:r>
              <a:rPr lang="ru-RU" dirty="0"/>
              <a:t>.</a:t>
            </a: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39B9AF36-349F-8BDA-A444-AD1CD4628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Практика №2</a:t>
            </a:r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8D3E16D-9392-48A3-C87C-8736FD69C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ru-RU"/>
              <a:t>№ </a:t>
            </a:r>
            <a:fld id="{C2001F1C-8CC0-448F-B9F6-3DE357E128D5}" type="slidenum">
              <a:rPr lang="ru-RU" smtClean="0"/>
              <a:pPr/>
              <a:t>8</a:t>
            </a:fld>
            <a:endParaRPr lang="ru-RU" dirty="0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306F938C-E879-301D-A805-E59371189A5F}"/>
              </a:ext>
            </a:extLst>
          </p:cNvPr>
          <p:cNvSpPr/>
          <p:nvPr/>
        </p:nvSpPr>
        <p:spPr>
          <a:xfrm>
            <a:off x="304801" y="2677652"/>
            <a:ext cx="3546987" cy="2251588"/>
          </a:xfrm>
          <a:prstGeom prst="rect">
            <a:avLst/>
          </a:prstGeom>
          <a:ln w="571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2800" b="1" dirty="0"/>
              <a:t>Позиционные</a:t>
            </a:r>
          </a:p>
          <a:p>
            <a:pPr algn="ctr"/>
            <a:r>
              <a:rPr lang="ru-RU" sz="2800" b="1" dirty="0"/>
              <a:t>(</a:t>
            </a:r>
            <a:r>
              <a:rPr lang="en-US" sz="2800" b="1" dirty="0"/>
              <a:t>BSD </a:t>
            </a:r>
            <a:r>
              <a:rPr lang="ru-RU" sz="2800" b="1" dirty="0"/>
              <a:t>формат)</a:t>
            </a:r>
          </a:p>
          <a:p>
            <a:pPr algn="ctr"/>
            <a:endParaRPr lang="ru-RU" sz="2800" dirty="0"/>
          </a:p>
          <a:p>
            <a:pPr algn="ctr"/>
            <a:r>
              <a:rPr lang="ru-RU" sz="2400" dirty="0"/>
              <a:t>Указываются как есть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32C85094-D7FC-44BC-A877-A2938BF2255F}"/>
              </a:ext>
            </a:extLst>
          </p:cNvPr>
          <p:cNvSpPr/>
          <p:nvPr/>
        </p:nvSpPr>
        <p:spPr>
          <a:xfrm>
            <a:off x="4317249" y="2677652"/>
            <a:ext cx="3546987" cy="2251588"/>
          </a:xfrm>
          <a:prstGeom prst="rect">
            <a:avLst/>
          </a:prstGeom>
          <a:ln w="571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2800" b="1" dirty="0"/>
              <a:t>Короткие</a:t>
            </a:r>
          </a:p>
          <a:p>
            <a:pPr algn="ctr"/>
            <a:r>
              <a:rPr lang="en-US" sz="2800" b="1" dirty="0"/>
              <a:t>(UNIX </a:t>
            </a:r>
            <a:r>
              <a:rPr lang="ru-RU" sz="2800" b="1" dirty="0"/>
              <a:t>формат</a:t>
            </a:r>
            <a:r>
              <a:rPr lang="en-US" sz="2800" b="1" dirty="0"/>
              <a:t>)</a:t>
            </a:r>
            <a:endParaRPr lang="ru-RU" sz="2800" dirty="0"/>
          </a:p>
          <a:p>
            <a:pPr algn="ctr"/>
            <a:r>
              <a:rPr lang="ru-RU" sz="2400" dirty="0"/>
              <a:t>Указываются с помощью знака дефис и одной латинской буквы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2FAA68BA-2429-F612-6AA3-1781CEE8B8B6}"/>
              </a:ext>
            </a:extLst>
          </p:cNvPr>
          <p:cNvSpPr/>
          <p:nvPr/>
        </p:nvSpPr>
        <p:spPr>
          <a:xfrm>
            <a:off x="8329697" y="2677652"/>
            <a:ext cx="3546987" cy="2251588"/>
          </a:xfrm>
          <a:prstGeom prst="rect">
            <a:avLst/>
          </a:prstGeom>
          <a:ln w="571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2800" b="1" dirty="0"/>
              <a:t>Длинные</a:t>
            </a:r>
          </a:p>
          <a:p>
            <a:pPr algn="ctr"/>
            <a:r>
              <a:rPr lang="en-US" sz="2800" b="1" dirty="0"/>
              <a:t>(GNU </a:t>
            </a:r>
            <a:r>
              <a:rPr lang="ru-RU" sz="2800" b="1" dirty="0"/>
              <a:t>формат</a:t>
            </a:r>
            <a:r>
              <a:rPr lang="en-US" sz="2800" b="1" dirty="0"/>
              <a:t>)</a:t>
            </a:r>
            <a:endParaRPr lang="ru-RU" sz="2800" b="1" dirty="0"/>
          </a:p>
          <a:p>
            <a:pPr algn="ctr"/>
            <a:r>
              <a:rPr lang="ru-RU" sz="2400" dirty="0"/>
              <a:t>Указываются с помощью двух знаков дефис и латинского слова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DB49D4-9FBF-77BC-3A0A-B70CADD7C4E2}"/>
              </a:ext>
            </a:extLst>
          </p:cNvPr>
          <p:cNvSpPr txBox="1"/>
          <p:nvPr/>
        </p:nvSpPr>
        <p:spPr>
          <a:xfrm>
            <a:off x="396240" y="5224940"/>
            <a:ext cx="1148044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tabLst>
                <a:tab pos="355600" algn="l"/>
              </a:tabLst>
            </a:pPr>
            <a:r>
              <a:rPr lang="ru-RU" sz="20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*	в скобках указано наименование соглашения; на данный момент в некоторых приложениях реализуется смешанный формат, допускающий одновременное их использование</a:t>
            </a:r>
          </a:p>
          <a:p>
            <a:pPr>
              <a:tabLst>
                <a:tab pos="355600" algn="l"/>
              </a:tabLst>
            </a:pPr>
            <a:r>
              <a:rPr lang="ru-RU" sz="20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**	данным соглашениям следуют не всегда, однако в подавляющем большинстве случаев</a:t>
            </a:r>
          </a:p>
        </p:txBody>
      </p:sp>
    </p:spTree>
    <p:extLst>
      <p:ext uri="{BB962C8B-B14F-4D97-AF65-F5344CB8AC3E}">
        <p14:creationId xmlns:p14="http://schemas.microsoft.com/office/powerpoint/2010/main" val="37134966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CBE9CFC-37A5-54D5-6044-3DB8C90B26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Использование любой команды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DD90382-E7A5-460F-B867-DDC5746C66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Если вы в первый раз встречаетесь с определенной командой и не знаете, как ей пользоваться, как правило, данная команда несет небольшую часть информации с помощью двух часто встречающихся длинных аргументов:</a:t>
            </a:r>
          </a:p>
          <a:p>
            <a:r>
              <a:rPr lang="ru-RU" b="1" dirty="0"/>
              <a:t>Справочная информация </a:t>
            </a:r>
            <a:r>
              <a:rPr lang="ru-RU" dirty="0"/>
              <a:t>— короткий материал для быстрого ознакомления с командой:</a:t>
            </a:r>
            <a:endParaRPr lang="en-US" dirty="0"/>
          </a:p>
          <a:p>
            <a:pPr marL="0" indent="0" algn="ctr">
              <a:buNone/>
            </a:pPr>
            <a:r>
              <a:rPr lang="en-US" dirty="0">
                <a:solidFill>
                  <a:schemeClr val="accent6"/>
                </a:solidFill>
                <a:latin typeface="Consolas" panose="020B0609020204030204" pitchFamily="49" charset="0"/>
              </a:rPr>
              <a:t>{</a:t>
            </a:r>
            <a:r>
              <a:rPr lang="ru-RU" dirty="0">
                <a:solidFill>
                  <a:schemeClr val="accent6"/>
                </a:solidFill>
                <a:latin typeface="Consolas" panose="020B0609020204030204" pitchFamily="49" charset="0"/>
              </a:rPr>
              <a:t>команда</a:t>
            </a:r>
            <a:r>
              <a:rPr lang="en-US" dirty="0">
                <a:solidFill>
                  <a:schemeClr val="accent6"/>
                </a:solidFill>
                <a:latin typeface="Consolas" panose="020B0609020204030204" pitchFamily="49" charset="0"/>
              </a:rPr>
              <a:t>}</a:t>
            </a:r>
            <a:r>
              <a:rPr lang="ru-RU" dirty="0">
                <a:latin typeface="Consolas" panose="020B0609020204030204" pitchFamily="49" charset="0"/>
              </a:rPr>
              <a:t> --</a:t>
            </a:r>
            <a:r>
              <a:rPr lang="en-US" dirty="0">
                <a:latin typeface="Consolas" panose="020B0609020204030204" pitchFamily="49" charset="0"/>
              </a:rPr>
              <a:t>help</a:t>
            </a:r>
            <a:endParaRPr lang="ru-RU" dirty="0">
              <a:latin typeface="Consolas" panose="020B0609020204030204" pitchFamily="49" charset="0"/>
            </a:endParaRPr>
          </a:p>
          <a:p>
            <a:r>
              <a:rPr lang="ru-RU" b="1" dirty="0"/>
              <a:t>Информация о версии </a:t>
            </a:r>
            <a:r>
              <a:rPr lang="ru-RU" dirty="0"/>
              <a:t>— может быть использована для сравнения версий или даже для контроля корректности запуска команды:</a:t>
            </a:r>
          </a:p>
          <a:p>
            <a:pPr marL="0" indent="0" algn="ctr">
              <a:buNone/>
            </a:pPr>
            <a:r>
              <a:rPr lang="en-US" dirty="0">
                <a:solidFill>
                  <a:schemeClr val="accent6"/>
                </a:solidFill>
                <a:latin typeface="Consolas" panose="020B0609020204030204" pitchFamily="49" charset="0"/>
              </a:rPr>
              <a:t>{</a:t>
            </a:r>
            <a:r>
              <a:rPr lang="ru-RU" dirty="0">
                <a:solidFill>
                  <a:schemeClr val="accent6"/>
                </a:solidFill>
                <a:latin typeface="Consolas" panose="020B0609020204030204" pitchFamily="49" charset="0"/>
              </a:rPr>
              <a:t>команда</a:t>
            </a:r>
            <a:r>
              <a:rPr lang="en-US" dirty="0">
                <a:solidFill>
                  <a:schemeClr val="accent6"/>
                </a:solidFill>
                <a:latin typeface="Consolas" panose="020B0609020204030204" pitchFamily="49" charset="0"/>
              </a:rPr>
              <a:t>}</a:t>
            </a:r>
            <a:r>
              <a:rPr lang="ru-RU" dirty="0">
                <a:solidFill>
                  <a:schemeClr val="accent6"/>
                </a:solidFill>
                <a:latin typeface="Consolas" panose="020B0609020204030204" pitchFamily="49" charset="0"/>
              </a:rPr>
              <a:t> </a:t>
            </a:r>
            <a:r>
              <a:rPr lang="ru-RU" dirty="0">
                <a:latin typeface="Consolas" panose="020B0609020204030204" pitchFamily="49" charset="0"/>
              </a:rPr>
              <a:t>--</a:t>
            </a:r>
            <a:r>
              <a:rPr lang="en-US" dirty="0">
                <a:latin typeface="Consolas" panose="020B0609020204030204" pitchFamily="49" charset="0"/>
              </a:rPr>
              <a:t>version</a:t>
            </a:r>
            <a:endParaRPr lang="ru-RU" dirty="0">
              <a:latin typeface="Consolas" panose="020B0609020204030204" pitchFamily="49" charset="0"/>
            </a:endParaRPr>
          </a:p>
          <a:p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2877D070-5D3A-3A02-4CF3-F71A0F7906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Практика №2</a:t>
            </a:r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4961242-D17C-1278-892D-7EF24DE58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ru-RU"/>
              <a:t>№ </a:t>
            </a:r>
            <a:fld id="{C2001F1C-8CC0-448F-B9F6-3DE357E128D5}" type="slidenum">
              <a:rPr lang="ru-RU" smtClean="0"/>
              <a:pPr/>
              <a:t>9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524296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F845DE-6BE0-2AAA-BCEC-900086659E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B093AD57-64C1-B9A7-BF83-EB996F82A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Использование аргументов</a:t>
            </a:r>
          </a:p>
        </p:txBody>
      </p:sp>
      <p:sp>
        <p:nvSpPr>
          <p:cNvPr id="7" name="Объект 6">
            <a:extLst>
              <a:ext uri="{FF2B5EF4-FFF2-40B4-BE49-F238E27FC236}">
                <a16:creationId xmlns:a16="http://schemas.microsoft.com/office/drawing/2014/main" id="{873B8FD5-544D-C3E9-1611-B162B9E17D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Вернемся к </a:t>
            </a:r>
            <a:r>
              <a:rPr lang="en-US" dirty="0" err="1"/>
              <a:t>uname</a:t>
            </a:r>
            <a:r>
              <a:rPr lang="ru-RU" dirty="0"/>
              <a:t>.</a:t>
            </a:r>
          </a:p>
          <a:p>
            <a:pPr marL="357188" indent="-357188">
              <a:buClr>
                <a:srgbClr val="0070C0"/>
              </a:buClr>
              <a:buFont typeface="Arial" panose="020B0604020202020204" pitchFamily="34" charset="0"/>
              <a:buChar char="☼"/>
            </a:pPr>
            <a:r>
              <a:rPr lang="ru-RU" dirty="0"/>
              <a:t>Выведете справку о команде с использованием аргумента </a:t>
            </a:r>
            <a:r>
              <a:rPr lang="en-US" dirty="0">
                <a:latin typeface="Consolas" panose="020B0609020204030204" pitchFamily="49" charset="0"/>
              </a:rPr>
              <a:t>--help</a:t>
            </a:r>
            <a:r>
              <a:rPr lang="ru-RU" dirty="0"/>
              <a:t>.</a:t>
            </a:r>
            <a:endParaRPr lang="en-US" dirty="0"/>
          </a:p>
          <a:p>
            <a:pPr marL="357188" indent="-357188">
              <a:buClr>
                <a:srgbClr val="0070C0"/>
              </a:buClr>
              <a:buFont typeface="Arial" panose="020B0604020202020204" pitchFamily="34" charset="0"/>
              <a:buChar char="☼"/>
            </a:pPr>
            <a:r>
              <a:rPr lang="ru-RU" dirty="0"/>
              <a:t>Воспользуйтесь справкой чтобы вывести информацию о</a:t>
            </a:r>
          </a:p>
          <a:p>
            <a:pPr lvl="1"/>
            <a:r>
              <a:rPr lang="ru-RU" dirty="0"/>
              <a:t>Версии ядра</a:t>
            </a:r>
          </a:p>
          <a:p>
            <a:pPr lvl="1"/>
            <a:r>
              <a:rPr lang="ru-RU" dirty="0"/>
              <a:t>Операционной системе</a:t>
            </a:r>
          </a:p>
          <a:p>
            <a:pPr lvl="1"/>
            <a:r>
              <a:rPr lang="ru-RU" dirty="0"/>
              <a:t>Аппаратной платформе</a:t>
            </a:r>
          </a:p>
          <a:p>
            <a:pPr marL="357188" indent="-357188">
              <a:buClr>
                <a:schemeClr val="accent1"/>
              </a:buClr>
              <a:buFont typeface="Arial" panose="020B0604020202020204" pitchFamily="34" charset="0"/>
              <a:buChar char="☼"/>
            </a:pPr>
            <a:r>
              <a:rPr lang="ru-RU" dirty="0"/>
              <a:t>Попробуйте и короткие, и длинные аргументы.</a:t>
            </a:r>
          </a:p>
          <a:p>
            <a:pPr marL="357188" indent="-357188">
              <a:buClr>
                <a:srgbClr val="FF0000"/>
              </a:buClr>
              <a:buFont typeface="Arial" panose="020B0604020202020204" pitchFamily="34" charset="0"/>
              <a:buChar char="☼"/>
            </a:pPr>
            <a:r>
              <a:rPr lang="ru-RU" dirty="0"/>
              <a:t>Скомбинируйте несколько аргументов, чтобы вывести сразу все необходимую информацию.</a:t>
            </a:r>
          </a:p>
          <a:p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CAE41D8-133F-ADB7-7044-2B85990284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Практика №2</a:t>
            </a:r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F75AF4B-034F-E0EE-96BC-81E0BFD92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ru-RU"/>
              <a:t>№ </a:t>
            </a:r>
            <a:fld id="{C2001F1C-8CC0-448F-B9F6-3DE357E128D5}" type="slidenum">
              <a:rPr lang="ru-RU" smtClean="0"/>
              <a:pPr/>
              <a:t>10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580044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047A04-D5D3-3F3E-1769-D867EDBF8E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2239E19B-9E1F-6271-C373-FC5B9FFDA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Склеивание аргументов</a:t>
            </a:r>
          </a:p>
        </p:txBody>
      </p:sp>
      <p:sp>
        <p:nvSpPr>
          <p:cNvPr id="7" name="Объект 6">
            <a:extLst>
              <a:ext uri="{FF2B5EF4-FFF2-40B4-BE49-F238E27FC236}">
                <a16:creationId xmlns:a16="http://schemas.microsoft.com/office/drawing/2014/main" id="{E4085A75-586D-A775-4A54-DCD58AD747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Короткие аргументы, не зависящие от входящих данных (позиционных аргументов, стоящих справа от коротких аргументов), можно склеивать в один аргумент.</a:t>
            </a:r>
          </a:p>
          <a:p>
            <a:r>
              <a:rPr lang="ru-RU" dirty="0"/>
              <a:t>Например, вместо вывода информации с помощью </a:t>
            </a:r>
            <a:r>
              <a:rPr lang="en-US" dirty="0" err="1"/>
              <a:t>uname</a:t>
            </a:r>
            <a:r>
              <a:rPr lang="en-US" dirty="0"/>
              <a:t> </a:t>
            </a:r>
            <a:r>
              <a:rPr lang="ru-RU" dirty="0"/>
              <a:t>как</a:t>
            </a:r>
          </a:p>
          <a:p>
            <a:pPr marL="0" indent="0" algn="ctr">
              <a:buNone/>
            </a:pPr>
            <a:r>
              <a:rPr lang="en-US" dirty="0" err="1">
                <a:latin typeface="Consolas" panose="020B0609020204030204" pitchFamily="49" charset="0"/>
              </a:rPr>
              <a:t>uname</a:t>
            </a:r>
            <a:r>
              <a:rPr lang="en-US" dirty="0">
                <a:latin typeface="Consolas" panose="020B0609020204030204" pitchFamily="49" charset="0"/>
              </a:rPr>
              <a:t> -r -o -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endParaRPr lang="ru-RU" dirty="0">
              <a:latin typeface="Consolas" panose="020B0609020204030204" pitchFamily="49" charset="0"/>
            </a:endParaRPr>
          </a:p>
          <a:p>
            <a:pPr marL="0" indent="0">
              <a:buNone/>
              <a:tabLst>
                <a:tab pos="265113" algn="l"/>
              </a:tabLst>
            </a:pPr>
            <a:r>
              <a:rPr lang="ru-RU" dirty="0"/>
              <a:t>	можно воспользоваться следующей записью:</a:t>
            </a:r>
            <a:endParaRPr lang="en-US" dirty="0"/>
          </a:p>
          <a:p>
            <a:pPr marL="0" indent="0" algn="ctr">
              <a:buNone/>
              <a:tabLst>
                <a:tab pos="265113" algn="l"/>
              </a:tabLst>
            </a:pPr>
            <a:r>
              <a:rPr lang="en-US" dirty="0" err="1">
                <a:latin typeface="Consolas" panose="020B0609020204030204" pitchFamily="49" charset="0"/>
              </a:rPr>
              <a:t>uname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ru-RU" dirty="0">
                <a:latin typeface="Consolas" panose="020B0609020204030204" pitchFamily="49" charset="0"/>
              </a:rPr>
              <a:t>-</a:t>
            </a:r>
            <a:r>
              <a:rPr lang="en-US" dirty="0" err="1">
                <a:latin typeface="Consolas" panose="020B0609020204030204" pitchFamily="49" charset="0"/>
              </a:rPr>
              <a:t>roi</a:t>
            </a:r>
            <a:endParaRPr lang="ru-RU" dirty="0">
              <a:latin typeface="Consolas" panose="020B0609020204030204" pitchFamily="49" charset="0"/>
            </a:endParaRPr>
          </a:p>
          <a:p>
            <a:pPr>
              <a:buClr>
                <a:srgbClr val="FF0000"/>
              </a:buClr>
              <a:buFont typeface="Times New Roman" panose="02020603050405020304" pitchFamily="18" charset="0"/>
              <a:buChar char="⁕"/>
            </a:pPr>
            <a:r>
              <a:rPr lang="ru-RU" dirty="0"/>
              <a:t>Системные команды поддерживают подобный режим, однако некоторые команды могут воспринимать это как ошибку.</a:t>
            </a:r>
            <a:endParaRPr lang="en-US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A0E4C13-CDF2-ECCB-81AD-10210DAA4C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Практика №2</a:t>
            </a:r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E25642E-0F2A-3877-121E-B8AFE19DC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ru-RU"/>
              <a:t>№ </a:t>
            </a:r>
            <a:fld id="{C2001F1C-8CC0-448F-B9F6-3DE357E128D5}" type="slidenum">
              <a:rPr lang="ru-RU" smtClean="0"/>
              <a:pPr/>
              <a:t>11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089380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EFF05C5-3303-A8C8-064F-DC0E08148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такое команда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236AC6E-EFC4-BC26-5EB5-920D0E9E28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0205" y="1552356"/>
            <a:ext cx="11761077" cy="689399"/>
          </a:xfrm>
        </p:spPr>
        <p:txBody>
          <a:bodyPr/>
          <a:lstStyle/>
          <a:p>
            <a:r>
              <a:rPr lang="ru-RU" dirty="0"/>
              <a:t>Командой в </a:t>
            </a:r>
            <a:r>
              <a:rPr lang="en-US" dirty="0"/>
              <a:t>Bash </a:t>
            </a:r>
            <a:r>
              <a:rPr lang="ru-RU" dirty="0"/>
              <a:t>может являться:</a:t>
            </a: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93ECCF3-8225-6956-006C-A92992CF60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Практика №2</a:t>
            </a:r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7666EA7-0483-3E0A-E906-90A8D0FA2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ru-RU"/>
              <a:t>№ </a:t>
            </a:r>
            <a:fld id="{C2001F1C-8CC0-448F-B9F6-3DE357E128D5}" type="slidenum">
              <a:rPr lang="ru-RU" smtClean="0"/>
              <a:pPr/>
              <a:t>12</a:t>
            </a:fld>
            <a:endParaRPr lang="ru-RU" dirty="0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E65A6893-8F7D-9996-9E43-08D08FB04D70}"/>
              </a:ext>
            </a:extLst>
          </p:cNvPr>
          <p:cNvSpPr/>
          <p:nvPr/>
        </p:nvSpPr>
        <p:spPr>
          <a:xfrm>
            <a:off x="6892921" y="3506340"/>
            <a:ext cx="4670322" cy="2251588"/>
          </a:xfrm>
          <a:prstGeom prst="rect">
            <a:avLst/>
          </a:prstGeom>
          <a:ln w="571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2800" dirty="0"/>
              <a:t>Любой исполняемый файл, к которому может обратиться пользователь</a:t>
            </a:r>
            <a:endParaRPr lang="ru-RU" sz="3600" dirty="0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29A36B9C-BBDE-A9C0-D569-E9EA34907546}"/>
              </a:ext>
            </a:extLst>
          </p:cNvPr>
          <p:cNvSpPr/>
          <p:nvPr/>
        </p:nvSpPr>
        <p:spPr>
          <a:xfrm>
            <a:off x="628758" y="3506340"/>
            <a:ext cx="4670322" cy="2251588"/>
          </a:xfrm>
          <a:prstGeom prst="rect">
            <a:avLst/>
          </a:prstGeom>
          <a:ln w="571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2800" dirty="0"/>
              <a:t>Синтаксическая конструкция командной оболочки (переменные, логические ветвления и другое)</a:t>
            </a:r>
            <a:endParaRPr lang="ru-RU" sz="3600" dirty="0"/>
          </a:p>
        </p:txBody>
      </p:sp>
      <p:cxnSp>
        <p:nvCxnSpPr>
          <p:cNvPr id="9" name="Прямая со стрелкой 8">
            <a:extLst>
              <a:ext uri="{FF2B5EF4-FFF2-40B4-BE49-F238E27FC236}">
                <a16:creationId xmlns:a16="http://schemas.microsoft.com/office/drawing/2014/main" id="{C2C12774-6617-E41A-A6D7-DF09D6F910F1}"/>
              </a:ext>
            </a:extLst>
          </p:cNvPr>
          <p:cNvCxnSpPr>
            <a:stCxn id="3" idx="2"/>
            <a:endCxn id="7" idx="0"/>
          </p:cNvCxnSpPr>
          <p:nvPr/>
        </p:nvCxnSpPr>
        <p:spPr>
          <a:xfrm flipH="1">
            <a:off x="2963919" y="2241755"/>
            <a:ext cx="3126825" cy="1264585"/>
          </a:xfrm>
          <a:prstGeom prst="straightConnector1">
            <a:avLst/>
          </a:prstGeom>
          <a:ln w="152400">
            <a:solidFill>
              <a:schemeClr val="bg1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Прямая со стрелкой 9">
            <a:extLst>
              <a:ext uri="{FF2B5EF4-FFF2-40B4-BE49-F238E27FC236}">
                <a16:creationId xmlns:a16="http://schemas.microsoft.com/office/drawing/2014/main" id="{70C306ED-EAAA-96C2-34B6-8305C61FB0EF}"/>
              </a:ext>
            </a:extLst>
          </p:cNvPr>
          <p:cNvCxnSpPr>
            <a:cxnSpLocks/>
            <a:stCxn id="3" idx="2"/>
            <a:endCxn id="6" idx="0"/>
          </p:cNvCxnSpPr>
          <p:nvPr/>
        </p:nvCxnSpPr>
        <p:spPr>
          <a:xfrm>
            <a:off x="6090744" y="2241755"/>
            <a:ext cx="3137338" cy="1264585"/>
          </a:xfrm>
          <a:prstGeom prst="straightConnector1">
            <a:avLst/>
          </a:prstGeom>
          <a:ln w="152400">
            <a:solidFill>
              <a:schemeClr val="bg1"/>
            </a:solidFill>
            <a:headEnd type="oval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802823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6AF55E-E46E-1C00-A533-0F224EA905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Парочка подсказок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F820AAD-9408-AA1B-1D14-6AD94FD1D5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Clr>
                <a:srgbClr val="FF0000"/>
              </a:buClr>
              <a:buFont typeface="Times New Roman" panose="02020603050405020304" pitchFamily="18" charset="0"/>
              <a:buChar char="⁕"/>
            </a:pPr>
            <a:r>
              <a:rPr lang="ru-RU" dirty="0"/>
              <a:t>Перемещаться между последними выполненными командами можно с использованием стрелок вверх и вниз.</a:t>
            </a:r>
          </a:p>
          <a:p>
            <a:pPr>
              <a:buClr>
                <a:srgbClr val="FF0000"/>
              </a:buClr>
              <a:buFont typeface="Times New Roman" panose="02020603050405020304" pitchFamily="18" charset="0"/>
              <a:buChar char="⁕"/>
            </a:pPr>
            <a:r>
              <a:rPr lang="ru-RU" dirty="0"/>
              <a:t>Для удобной работы в терминале существуют удобные клавиши:</a:t>
            </a:r>
            <a:endParaRPr lang="en-US" dirty="0"/>
          </a:p>
          <a:p>
            <a:pPr lvl="1"/>
            <a:r>
              <a:rPr lang="en-US" dirty="0"/>
              <a:t>Home</a:t>
            </a:r>
            <a:r>
              <a:rPr lang="ru-RU" dirty="0"/>
              <a:t> — перемещение курсора в начало строки</a:t>
            </a:r>
          </a:p>
          <a:p>
            <a:pPr lvl="1"/>
            <a:r>
              <a:rPr lang="en-US" dirty="0"/>
              <a:t>End </a:t>
            </a:r>
            <a:r>
              <a:rPr lang="ru-RU" dirty="0"/>
              <a:t>— перемещение курсора в конец строки</a:t>
            </a:r>
          </a:p>
          <a:p>
            <a:pPr lvl="1"/>
            <a:r>
              <a:rPr lang="en-US" dirty="0"/>
              <a:t>Page Up/Page Down </a:t>
            </a:r>
            <a:r>
              <a:rPr lang="ru-RU" dirty="0"/>
              <a:t>— перемещение курсора на один экран вверх</a:t>
            </a:r>
            <a:r>
              <a:rPr lang="en-US" dirty="0"/>
              <a:t>/</a:t>
            </a:r>
            <a:r>
              <a:rPr lang="ru-RU" dirty="0"/>
              <a:t>вниз</a:t>
            </a:r>
          </a:p>
          <a:p>
            <a:pPr>
              <a:buClr>
                <a:srgbClr val="FF0000"/>
              </a:buClr>
              <a:buFont typeface="Times New Roman" panose="02020603050405020304" pitchFamily="18" charset="0"/>
              <a:buChar char="⁕"/>
            </a:pPr>
            <a:r>
              <a:rPr lang="ru-RU" dirty="0"/>
              <a:t>Во многих случаях </a:t>
            </a:r>
            <a:r>
              <a:rPr lang="en-US" dirty="0"/>
              <a:t>Bash </a:t>
            </a:r>
            <a:r>
              <a:rPr lang="ru-RU" dirty="0"/>
              <a:t>может вам подсказать синтаксис команды или набор файлов с использованием </a:t>
            </a:r>
            <a:r>
              <a:rPr lang="ru-RU" dirty="0" err="1"/>
              <a:t>автодополнений</a:t>
            </a:r>
            <a:r>
              <a:rPr lang="ru-RU" dirty="0"/>
              <a:t>, которые вызываются нажатием</a:t>
            </a:r>
            <a:r>
              <a:rPr lang="en-US" dirty="0"/>
              <a:t> Tab </a:t>
            </a:r>
            <a:r>
              <a:rPr lang="ru-RU" dirty="0"/>
              <a:t>(двойным нажатием, когда дополнение неочевидно).</a:t>
            </a:r>
          </a:p>
          <a:p>
            <a:pPr>
              <a:buClr>
                <a:srgbClr val="FF0000"/>
              </a:buClr>
              <a:buFont typeface="Times New Roman" panose="02020603050405020304" pitchFamily="18" charset="0"/>
              <a:buChar char="⁕"/>
            </a:pPr>
            <a:r>
              <a:rPr lang="ru-RU" dirty="0"/>
              <a:t>Если экран захламлен выводом, воспользуйтесь командой </a:t>
            </a:r>
            <a:r>
              <a:rPr lang="en-US" dirty="0">
                <a:latin typeface="Consolas" panose="020B0609020204030204" pitchFamily="49" charset="0"/>
              </a:rPr>
              <a:t>clear</a:t>
            </a:r>
            <a:r>
              <a:rPr lang="en-US" dirty="0"/>
              <a:t>.</a:t>
            </a:r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C842837D-658F-9F29-B860-47A0517BDF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Практика №2</a:t>
            </a:r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C407E50-E177-88EA-C8D3-25B5454AA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ru-RU"/>
              <a:t>№ </a:t>
            </a:r>
            <a:fld id="{C2001F1C-8CC0-448F-B9F6-3DE357E128D5}" type="slidenum">
              <a:rPr lang="ru-RU" smtClean="0"/>
              <a:pPr/>
              <a:t>13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005327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A9E94600-9C21-EC37-0D7E-F9E21814D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Перемещение по файловой системе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2727C706-1AD6-9EFF-23C0-0147300C55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Перемещение по каталогам</a:t>
            </a: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87D9370F-C6B6-A1FE-F39A-2A1CF44BF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Практика №2</a:t>
            </a:r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E85D770-7AEE-8787-FEC7-F28AB6022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ru-RU"/>
              <a:t>№ </a:t>
            </a:r>
            <a:fld id="{C2001F1C-8CC0-448F-B9F6-3DE357E128D5}" type="slidenum">
              <a:rPr lang="ru-RU" smtClean="0"/>
              <a:pPr/>
              <a:t>14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452978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0E6E69-95A7-E258-B0D0-F58DC1F10F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Перемещение по каталогам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D91751B-F366-3331-F1EF-73622BF3DE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Для начала, следует узнать, а где мы собственно находимся.</a:t>
            </a:r>
          </a:p>
          <a:p>
            <a:r>
              <a:rPr lang="ru-RU" dirty="0"/>
              <a:t>Для определения текущего каталога можно воспользоваться командой</a:t>
            </a:r>
            <a:endParaRPr lang="en-US" dirty="0"/>
          </a:p>
          <a:p>
            <a:pPr marL="0" indent="0" algn="ctr">
              <a:buNone/>
            </a:pPr>
            <a:r>
              <a:rPr lang="en-US" dirty="0" err="1">
                <a:latin typeface="Consolas" panose="020B0609020204030204" pitchFamily="49" charset="0"/>
              </a:rPr>
              <a:t>pwd</a:t>
            </a:r>
            <a:endParaRPr lang="en-US" dirty="0">
              <a:latin typeface="Consolas" panose="020B0609020204030204" pitchFamily="49" charset="0"/>
            </a:endParaRPr>
          </a:p>
          <a:p>
            <a:pPr marL="179388" indent="0">
              <a:buNone/>
            </a:pPr>
            <a:r>
              <a:rPr lang="ru-RU" dirty="0"/>
              <a:t>что означает </a:t>
            </a:r>
            <a:r>
              <a:rPr lang="en-US" i="1" dirty="0"/>
              <a:t>present working directory</a:t>
            </a:r>
            <a:r>
              <a:rPr lang="en-US" dirty="0"/>
              <a:t>. </a:t>
            </a:r>
            <a:r>
              <a:rPr lang="ru-RU" dirty="0"/>
              <a:t>Она выведет в консоль путь, по которому пользователь находится на данный момент.</a:t>
            </a:r>
          </a:p>
          <a:p>
            <a:pPr>
              <a:buClr>
                <a:srgbClr val="FF0000"/>
              </a:buClr>
              <a:buFont typeface="Times New Roman" panose="02020603050405020304" pitchFamily="18" charset="0"/>
              <a:buChar char="⁕"/>
            </a:pPr>
            <a:r>
              <a:rPr lang="ru-RU" dirty="0"/>
              <a:t>Изначально при входе в систему пользователь всегда находится в своем домашнем каталоге. Как правило, он располагается по пути</a:t>
            </a:r>
            <a:br>
              <a:rPr lang="ru-RU" dirty="0"/>
            </a:br>
            <a:r>
              <a:rPr lang="en-US" b="1" dirty="0">
                <a:latin typeface="Consolas" panose="020B0609020204030204" pitchFamily="49" charset="0"/>
              </a:rPr>
              <a:t>/home/{</a:t>
            </a:r>
            <a:r>
              <a:rPr lang="ru-RU" b="1" dirty="0">
                <a:latin typeface="Consolas" panose="020B0609020204030204" pitchFamily="49" charset="0"/>
              </a:rPr>
              <a:t>имя пользователя</a:t>
            </a:r>
            <a:r>
              <a:rPr lang="en-US" b="1" dirty="0">
                <a:latin typeface="Consolas" panose="020B0609020204030204" pitchFamily="49" charset="0"/>
              </a:rPr>
              <a:t>}</a:t>
            </a:r>
            <a:r>
              <a:rPr lang="ru-RU" dirty="0"/>
              <a:t>.</a:t>
            </a:r>
          </a:p>
          <a:p>
            <a:pPr>
              <a:buClr>
                <a:srgbClr val="FF0000"/>
              </a:buClr>
              <a:buFont typeface="Times New Roman" panose="02020603050405020304" pitchFamily="18" charset="0"/>
              <a:buChar char="⁕"/>
            </a:pPr>
            <a:r>
              <a:rPr lang="ru-RU" dirty="0"/>
              <a:t>Домашний каталог также обозначается знаком тильда </a:t>
            </a:r>
            <a:r>
              <a:rPr lang="en-US" dirty="0"/>
              <a:t>~</a:t>
            </a:r>
            <a:r>
              <a:rPr lang="ru-RU" dirty="0"/>
              <a:t>.</a:t>
            </a: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2DBA1545-A55A-49A8-B333-244C64625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Практика №2</a:t>
            </a:r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D27431C-DD10-A7FB-6A46-8F1E6B749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ru-RU"/>
              <a:t>№ </a:t>
            </a:r>
            <a:fld id="{C2001F1C-8CC0-448F-B9F6-3DE357E128D5}" type="slidenum">
              <a:rPr lang="ru-RU" smtClean="0"/>
              <a:pPr/>
              <a:t>15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451446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B03881-E607-84B3-422A-4155ABBDD9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Перемещение по каталогам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120E287-0DC1-E225-FDC7-18765DB811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Пример: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ru-RU" dirty="0"/>
              <a:t>Внимательный студент обратит внимание, что знак тильды </a:t>
            </a:r>
            <a:r>
              <a:rPr lang="en-US" dirty="0"/>
              <a:t>~ </a:t>
            </a:r>
            <a:r>
              <a:rPr lang="ru-RU" dirty="0"/>
              <a:t>записан перед знаком доллара </a:t>
            </a:r>
            <a:r>
              <a:rPr lang="en-US" dirty="0"/>
              <a:t>$</a:t>
            </a:r>
            <a:r>
              <a:rPr lang="ru-RU" dirty="0"/>
              <a:t> в этой странной строке. На самом деле на этом месте в </a:t>
            </a:r>
            <a:r>
              <a:rPr lang="en-US" dirty="0"/>
              <a:t>Bash </a:t>
            </a:r>
            <a:r>
              <a:rPr lang="ru-RU" dirty="0"/>
              <a:t>у нас действительно записывается текущий каталог — на одну загадку меньше.</a:t>
            </a:r>
          </a:p>
          <a:p>
            <a:pPr marL="0" indent="0" algn="ctr">
              <a:buNone/>
            </a:pPr>
            <a:r>
              <a:rPr lang="ru-RU" b="1" dirty="0">
                <a:solidFill>
                  <a:srgbClr val="FF0000"/>
                </a:solidFill>
                <a:latin typeface="Consolas" panose="020B0609020204030204" pitchFamily="49" charset="0"/>
              </a:rPr>
              <a:t>имя</a:t>
            </a:r>
            <a:r>
              <a:rPr lang="en-US" b="1" dirty="0">
                <a:solidFill>
                  <a:srgbClr val="FF0000"/>
                </a:solidFill>
                <a:latin typeface="Consolas" panose="020B0609020204030204" pitchFamily="49" charset="0"/>
              </a:rPr>
              <a:t>_</a:t>
            </a:r>
            <a:r>
              <a:rPr lang="ru-RU" b="1" dirty="0">
                <a:solidFill>
                  <a:srgbClr val="FF0000"/>
                </a:solidFill>
                <a:latin typeface="Consolas" panose="020B0609020204030204" pitchFamily="49" charset="0"/>
              </a:rPr>
              <a:t>пользователя</a:t>
            </a:r>
            <a:r>
              <a:rPr lang="en-US" dirty="0">
                <a:latin typeface="Consolas" panose="020B0609020204030204" pitchFamily="49" charset="0"/>
              </a:rPr>
              <a:t>@</a:t>
            </a:r>
            <a:r>
              <a:rPr lang="ru-RU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имя_машины</a:t>
            </a:r>
            <a:r>
              <a:rPr lang="en-US" dirty="0">
                <a:latin typeface="Consolas" panose="020B0609020204030204" pitchFamily="49" charset="0"/>
              </a:rPr>
              <a:t>:</a:t>
            </a:r>
            <a:r>
              <a:rPr lang="ru-RU" b="1" dirty="0" err="1">
                <a:solidFill>
                  <a:srgbClr val="0070C0"/>
                </a:solidFill>
                <a:latin typeface="Consolas" panose="020B0609020204030204" pitchFamily="49" charset="0"/>
              </a:rPr>
              <a:t>текущий_каталог</a:t>
            </a:r>
            <a:r>
              <a:rPr lang="en-US" b="1" dirty="0">
                <a:solidFill>
                  <a:schemeClr val="accent4"/>
                </a:solidFill>
                <a:latin typeface="Consolas" panose="020B0609020204030204" pitchFamily="49" charset="0"/>
              </a:rPr>
              <a:t>$</a:t>
            </a:r>
            <a:endParaRPr lang="ru-RU" b="1" dirty="0">
              <a:solidFill>
                <a:schemeClr val="accent4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4F5CD01-7716-EA87-3B42-73EEEAAA3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Практика №2</a:t>
            </a:r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1209272-EADD-7D3B-75C9-4ADA180DC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ru-RU"/>
              <a:t>№ </a:t>
            </a:r>
            <a:fld id="{C2001F1C-8CC0-448F-B9F6-3DE357E128D5}" type="slidenum">
              <a:rPr lang="ru-RU" smtClean="0"/>
              <a:pPr/>
              <a:t>16</a:t>
            </a:fld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4982361-9785-70ED-1918-BB7AB047E4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939" y="2033876"/>
            <a:ext cx="3618121" cy="961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89816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E9C66F-3087-4C0F-D7C7-9014547527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Перемещение по каталогам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758E940-CCC6-24AD-165D-13A0093695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Для перемещения по каталогам используется команда</a:t>
            </a:r>
            <a:endParaRPr lang="en-US" dirty="0"/>
          </a:p>
          <a:p>
            <a:pPr marL="0" indent="0" algn="ctr">
              <a:buNone/>
            </a:pPr>
            <a:r>
              <a:rPr lang="en-US" dirty="0">
                <a:latin typeface="Consolas" panose="020B0609020204030204" pitchFamily="49" charset="0"/>
              </a:rPr>
              <a:t>cd 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{</a:t>
            </a:r>
            <a:r>
              <a:rPr lang="ru-RU" dirty="0">
                <a:solidFill>
                  <a:schemeClr val="accent1"/>
                </a:solidFill>
                <a:latin typeface="Consolas" panose="020B0609020204030204" pitchFamily="49" charset="0"/>
              </a:rPr>
              <a:t>путь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}</a:t>
            </a:r>
            <a:endParaRPr lang="ru-RU" dirty="0">
              <a:solidFill>
                <a:schemeClr val="accent1"/>
              </a:solidFill>
              <a:latin typeface="Consolas" panose="020B0609020204030204" pitchFamily="49" charset="0"/>
            </a:endParaRPr>
          </a:p>
          <a:p>
            <a:pPr marL="179388" indent="0">
              <a:buNone/>
            </a:pPr>
            <a:r>
              <a:rPr lang="ru-RU" dirty="0"/>
              <a:t>что означает </a:t>
            </a:r>
            <a:r>
              <a:rPr lang="en-US" i="1" dirty="0"/>
              <a:t>change directory</a:t>
            </a:r>
            <a:r>
              <a:rPr lang="en-US" dirty="0"/>
              <a:t>.</a:t>
            </a:r>
            <a:r>
              <a:rPr lang="ru-RU" dirty="0"/>
              <a:t> Она заменяет текущий каталог на указанный в позиционном аргументе </a:t>
            </a:r>
            <a:r>
              <a:rPr lang="ru-RU" i="1" dirty="0"/>
              <a:t>путь</a:t>
            </a:r>
            <a:r>
              <a:rPr lang="ru-RU" dirty="0"/>
              <a:t>.</a:t>
            </a:r>
          </a:p>
          <a:p>
            <a:pPr marL="357188" indent="-357188">
              <a:buClr>
                <a:schemeClr val="accent1"/>
              </a:buClr>
              <a:buFont typeface="Arial" panose="020B0604020202020204" pitchFamily="34" charset="0"/>
              <a:buChar char="☼"/>
            </a:pPr>
            <a:r>
              <a:rPr lang="ru-RU" dirty="0"/>
              <a:t>Переместитесь в каталог </a:t>
            </a:r>
            <a:r>
              <a:rPr lang="en-US" dirty="0"/>
              <a:t>/</a:t>
            </a:r>
            <a:r>
              <a:rPr lang="en-US" dirty="0" err="1"/>
              <a:t>usr</a:t>
            </a:r>
            <a:r>
              <a:rPr lang="en-US" dirty="0"/>
              <a:t>/bin</a:t>
            </a:r>
            <a:r>
              <a:rPr lang="ru-RU" dirty="0"/>
              <a:t>.</a:t>
            </a:r>
          </a:p>
          <a:p>
            <a:pPr marL="357188" indent="-357188">
              <a:buClr>
                <a:schemeClr val="accent1"/>
              </a:buClr>
              <a:buFont typeface="Arial" panose="020B0604020202020204" pitchFamily="34" charset="0"/>
              <a:buChar char="☼"/>
            </a:pPr>
            <a:r>
              <a:rPr lang="ru-RU" dirty="0"/>
              <a:t>Теперь переместитесь обратно в домашний каталог, используя тильду.</a:t>
            </a:r>
          </a:p>
          <a:p>
            <a:pPr marL="357188" indent="-357188">
              <a:buClr>
                <a:schemeClr val="accent1"/>
              </a:buClr>
              <a:buFont typeface="Arial" panose="020B0604020202020204" pitchFamily="34" charset="0"/>
              <a:buChar char="☼"/>
            </a:pPr>
            <a:r>
              <a:rPr lang="ru-RU" dirty="0"/>
              <a:t>Переместитесь в каталог </a:t>
            </a:r>
            <a:r>
              <a:rPr lang="en-US" dirty="0"/>
              <a:t>/</a:t>
            </a:r>
            <a:r>
              <a:rPr lang="ru-RU" dirty="0"/>
              <a:t> .</a:t>
            </a:r>
          </a:p>
          <a:p>
            <a:pPr marL="357188" indent="-357188">
              <a:buClr>
                <a:srgbClr val="FF0000"/>
              </a:buClr>
              <a:buFont typeface="Arial" panose="020B0604020202020204" pitchFamily="34" charset="0"/>
              <a:buChar char="☼"/>
            </a:pPr>
            <a:r>
              <a:rPr lang="ru-RU" dirty="0"/>
              <a:t>Введите команду </a:t>
            </a:r>
            <a:r>
              <a:rPr lang="en-US" dirty="0"/>
              <a:t>cd</a:t>
            </a:r>
            <a:r>
              <a:rPr lang="ru-RU" dirty="0"/>
              <a:t> без аргументов. Что произошло?</a:t>
            </a:r>
          </a:p>
          <a:p>
            <a:pPr marL="357188" indent="-357188">
              <a:buClr>
                <a:schemeClr val="accent1"/>
              </a:buClr>
              <a:buFont typeface="Arial" panose="020B0604020202020204" pitchFamily="34" charset="0"/>
              <a:buChar char="☼"/>
            </a:pPr>
            <a:endParaRPr lang="ru-RU" dirty="0"/>
          </a:p>
          <a:p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FE0CF31-570D-03C4-DF1B-A08D965519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Практика №2</a:t>
            </a:r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1E5E963-62B8-BCED-8224-579194EF04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ru-RU"/>
              <a:t>№ </a:t>
            </a:r>
            <a:fld id="{C2001F1C-8CC0-448F-B9F6-3DE357E128D5}" type="slidenum">
              <a:rPr lang="ru-RU" smtClean="0"/>
              <a:pPr/>
              <a:t>17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918517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EDCB6D-3AA3-F21C-DA00-8B7E143C6A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Перемещение по каталогам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2E11A67-3ADF-F0D8-D2BA-9CB50F30FF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97000"/>
              </a:lnSpc>
              <a:buClr>
                <a:srgbClr val="FF0000"/>
              </a:buClr>
              <a:buFont typeface="Times New Roman" panose="02020603050405020304" pitchFamily="18" charset="0"/>
              <a:buChar char="⁕"/>
            </a:pPr>
            <a:r>
              <a:rPr lang="ru-RU" dirty="0"/>
              <a:t>При взаимодействии с каталогами предусмотрено также использование двух специальных обозначений.</a:t>
            </a:r>
          </a:p>
          <a:p>
            <a:pPr>
              <a:lnSpc>
                <a:spcPct val="97000"/>
              </a:lnSpc>
            </a:pPr>
            <a:r>
              <a:rPr lang="ru-RU" dirty="0"/>
              <a:t>Точкой </a:t>
            </a:r>
            <a:r>
              <a:rPr lang="en-US" b="1" dirty="0"/>
              <a:t>.</a:t>
            </a:r>
            <a:r>
              <a:rPr lang="en-US" dirty="0"/>
              <a:t> </a:t>
            </a:r>
            <a:r>
              <a:rPr lang="ru-RU" dirty="0"/>
              <a:t>обозначается текущий каталог. Например, команда</a:t>
            </a:r>
          </a:p>
          <a:p>
            <a:pPr marL="0" indent="0" algn="ctr">
              <a:lnSpc>
                <a:spcPct val="97000"/>
              </a:lnSpc>
              <a:buNone/>
            </a:pPr>
            <a:r>
              <a:rPr lang="en-US" dirty="0">
                <a:latin typeface="Consolas" panose="020B0609020204030204" pitchFamily="49" charset="0"/>
              </a:rPr>
              <a:t>cd .</a:t>
            </a:r>
            <a:endParaRPr lang="ru-RU" dirty="0">
              <a:latin typeface="Consolas" panose="020B0609020204030204" pitchFamily="49" charset="0"/>
            </a:endParaRPr>
          </a:p>
          <a:p>
            <a:pPr marL="179388" indent="0">
              <a:lnSpc>
                <a:spcPct val="97000"/>
              </a:lnSpc>
              <a:buNone/>
            </a:pPr>
            <a:r>
              <a:rPr lang="ru-RU" dirty="0"/>
              <a:t>осуществит перемещение в текущий каталог, то есть ничего не сделает.</a:t>
            </a:r>
          </a:p>
          <a:p>
            <a:pPr>
              <a:lnSpc>
                <a:spcPct val="97000"/>
              </a:lnSpc>
            </a:pPr>
            <a:r>
              <a:rPr lang="ru-RU" dirty="0"/>
              <a:t>Двумя точками </a:t>
            </a:r>
            <a:r>
              <a:rPr lang="en-US" b="1" dirty="0"/>
              <a:t>..</a:t>
            </a:r>
            <a:r>
              <a:rPr lang="ru-RU" dirty="0"/>
              <a:t> обозначается родительский каталог, то есть тот, который находится на уровень выше относительно текущего. Например, если пользователь </a:t>
            </a:r>
            <a:r>
              <a:rPr lang="en-US" dirty="0">
                <a:latin typeface="Consolas" panose="020B0609020204030204" pitchFamily="49" charset="0"/>
              </a:rPr>
              <a:t>user</a:t>
            </a:r>
            <a:r>
              <a:rPr lang="en-US" dirty="0"/>
              <a:t> </a:t>
            </a:r>
            <a:r>
              <a:rPr lang="ru-RU" dirty="0"/>
              <a:t>находится в домашнем каталоге </a:t>
            </a:r>
            <a:r>
              <a:rPr lang="en-US" dirty="0">
                <a:latin typeface="Consolas" panose="020B0609020204030204" pitchFamily="49" charset="0"/>
              </a:rPr>
              <a:t>/home/user</a:t>
            </a:r>
            <a:r>
              <a:rPr lang="ru-RU" dirty="0"/>
              <a:t>, то</a:t>
            </a:r>
          </a:p>
          <a:p>
            <a:pPr marL="0" indent="0" algn="ctr">
              <a:lnSpc>
                <a:spcPct val="97000"/>
              </a:lnSpc>
              <a:buNone/>
            </a:pPr>
            <a:r>
              <a:rPr lang="en-US" dirty="0">
                <a:latin typeface="Consolas" panose="020B0609020204030204" pitchFamily="49" charset="0"/>
              </a:rPr>
              <a:t>cd ..</a:t>
            </a:r>
            <a:endParaRPr lang="ru-RU" dirty="0">
              <a:latin typeface="Consolas" panose="020B0609020204030204" pitchFamily="49" charset="0"/>
            </a:endParaRPr>
          </a:p>
          <a:p>
            <a:pPr marL="179388" indent="0">
              <a:lnSpc>
                <a:spcPct val="97000"/>
              </a:lnSpc>
              <a:buNone/>
            </a:pPr>
            <a:r>
              <a:rPr lang="ru-RU" dirty="0"/>
              <a:t>переместит его в каталог </a:t>
            </a:r>
            <a:r>
              <a:rPr lang="en-US" dirty="0">
                <a:latin typeface="Consolas" panose="020B0609020204030204" pitchFamily="49" charset="0"/>
              </a:rPr>
              <a:t>/home</a:t>
            </a:r>
            <a:r>
              <a:rPr lang="ru-RU" dirty="0"/>
              <a:t>.</a:t>
            </a: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BF22B415-4DA9-B41B-D759-4507F9D8C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Практика №2</a:t>
            </a:r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EE9F4E9-E891-A191-B10B-C096E2F5E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ru-RU"/>
              <a:t>№ </a:t>
            </a:r>
            <a:fld id="{C2001F1C-8CC0-448F-B9F6-3DE357E128D5}" type="slidenum">
              <a:rPr lang="ru-RU" smtClean="0"/>
              <a:pPr/>
              <a:t>18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176031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5C4D8515-634B-28D0-810B-E11BA1770D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Перемещение по каталогам</a:t>
            </a:r>
          </a:p>
        </p:txBody>
      </p:sp>
      <p:sp>
        <p:nvSpPr>
          <p:cNvPr id="7" name="Объект 6">
            <a:extLst>
              <a:ext uri="{FF2B5EF4-FFF2-40B4-BE49-F238E27FC236}">
                <a16:creationId xmlns:a16="http://schemas.microsoft.com/office/drawing/2014/main" id="{7AE2AA7A-FC32-AA52-1948-5EBE845D8F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0205" y="1552356"/>
            <a:ext cx="11761077" cy="1075230"/>
          </a:xfrm>
        </p:spPr>
        <p:txBody>
          <a:bodyPr/>
          <a:lstStyle/>
          <a:p>
            <a:r>
              <a:rPr lang="ru-RU" dirty="0"/>
              <a:t>Путь, который используется в командах, подобных </a:t>
            </a:r>
            <a:r>
              <a:rPr lang="en-US" dirty="0"/>
              <a:t>cd</a:t>
            </a:r>
            <a:r>
              <a:rPr lang="ru-RU" dirty="0"/>
              <a:t>, может быть представлен двумя способами.</a:t>
            </a:r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80EC6208-D675-6B2F-DC5D-793BFECC99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Практика №2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B26BB9A-CDE5-D2D9-6FAC-3647AD9AD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ru-RU"/>
              <a:t>№ </a:t>
            </a:r>
            <a:fld id="{C2001F1C-8CC0-448F-B9F6-3DE357E128D5}" type="slidenum">
              <a:rPr lang="ru-RU" smtClean="0"/>
              <a:pPr/>
              <a:t>19</a:t>
            </a:fld>
            <a:endParaRPr lang="ru-RU" dirty="0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94A45921-D1E5-14E9-5BB8-AAC8C96E71E4}"/>
              </a:ext>
            </a:extLst>
          </p:cNvPr>
          <p:cNvSpPr/>
          <p:nvPr/>
        </p:nvSpPr>
        <p:spPr>
          <a:xfrm>
            <a:off x="628758" y="3237186"/>
            <a:ext cx="4670322" cy="2520742"/>
          </a:xfrm>
          <a:prstGeom prst="rect">
            <a:avLst/>
          </a:prstGeom>
          <a:ln w="571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2800" b="1" dirty="0"/>
              <a:t>Абсолютный путь</a:t>
            </a:r>
          </a:p>
          <a:p>
            <a:pPr algn="ctr"/>
            <a:endParaRPr lang="ru-RU" sz="2800" dirty="0"/>
          </a:p>
          <a:p>
            <a:pPr algn="ctr"/>
            <a:r>
              <a:rPr lang="ru-RU" sz="2800" dirty="0"/>
              <a:t>Записывается относительно корневого каталога </a:t>
            </a:r>
            <a:r>
              <a:rPr lang="en-US" sz="2800" dirty="0"/>
              <a:t>/</a:t>
            </a:r>
            <a:endParaRPr lang="ru-RU" sz="3600" dirty="0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16130850-01C9-9738-4228-21A77C973496}"/>
              </a:ext>
            </a:extLst>
          </p:cNvPr>
          <p:cNvSpPr/>
          <p:nvPr/>
        </p:nvSpPr>
        <p:spPr>
          <a:xfrm>
            <a:off x="6892920" y="3237186"/>
            <a:ext cx="4670322" cy="2520742"/>
          </a:xfrm>
          <a:prstGeom prst="rect">
            <a:avLst/>
          </a:prstGeom>
          <a:ln w="571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2800" b="1" dirty="0"/>
              <a:t>Относительный путь</a:t>
            </a:r>
          </a:p>
          <a:p>
            <a:pPr algn="ctr"/>
            <a:endParaRPr lang="ru-RU" sz="2800" dirty="0"/>
          </a:p>
          <a:p>
            <a:pPr algn="ctr"/>
            <a:r>
              <a:rPr lang="ru-RU" sz="2800" dirty="0"/>
              <a:t>Записывается относительно текущего каталога .</a:t>
            </a:r>
            <a:endParaRPr lang="ru-RU" sz="3600" dirty="0"/>
          </a:p>
        </p:txBody>
      </p:sp>
    </p:spTree>
    <p:extLst>
      <p:ext uri="{BB962C8B-B14F-4D97-AF65-F5344CB8AC3E}">
        <p14:creationId xmlns:p14="http://schemas.microsoft.com/office/powerpoint/2010/main" val="15058952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5750BF6-9DFA-7119-3B6E-6E54927BE4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Перемещение по каталогам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248797D-27C0-A412-3743-051BF628AC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Для сохранения директории и перехода по </a:t>
            </a:r>
            <a:r>
              <a:rPr lang="ru-RU" i="1" dirty="0"/>
              <a:t>пути</a:t>
            </a:r>
            <a:r>
              <a:rPr lang="ru-RU" dirty="0"/>
              <a:t> можно воспользоваться командой</a:t>
            </a:r>
            <a:endParaRPr lang="ru-RU" strike="sngStrike" dirty="0">
              <a:solidFill>
                <a:schemeClr val="bg1">
                  <a:lumMod val="65000"/>
                </a:schemeClr>
              </a:solidFill>
            </a:endParaRPr>
          </a:p>
          <a:p>
            <a:pPr marL="0" indent="0" algn="ctr">
              <a:buNone/>
            </a:pPr>
            <a:r>
              <a:rPr lang="en-US" dirty="0" err="1">
                <a:latin typeface="Consolas" panose="020B0609020204030204" pitchFamily="49" charset="0"/>
              </a:rPr>
              <a:t>pushd</a:t>
            </a:r>
            <a:r>
              <a:rPr lang="ru-RU" dirty="0"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{</a:t>
            </a:r>
            <a:r>
              <a:rPr lang="ru-RU" dirty="0">
                <a:solidFill>
                  <a:schemeClr val="accent1"/>
                </a:solidFill>
                <a:latin typeface="Consolas" panose="020B0609020204030204" pitchFamily="49" charset="0"/>
              </a:rPr>
              <a:t>путь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}</a:t>
            </a:r>
            <a:endParaRPr lang="ru-RU" dirty="0">
              <a:solidFill>
                <a:schemeClr val="accent1"/>
              </a:solidFill>
              <a:latin typeface="Consolas" panose="020B0609020204030204" pitchFamily="49" charset="0"/>
            </a:endParaRPr>
          </a:p>
          <a:p>
            <a:r>
              <a:rPr lang="ru-RU" dirty="0"/>
              <a:t>Для возврата к последней сохраненной директории используется команда</a:t>
            </a:r>
          </a:p>
          <a:p>
            <a:pPr marL="0" indent="0" algn="ctr">
              <a:buNone/>
            </a:pPr>
            <a:r>
              <a:rPr lang="en-US" dirty="0" err="1">
                <a:latin typeface="Consolas" panose="020B0609020204030204" pitchFamily="49" charset="0"/>
              </a:rPr>
              <a:t>popd</a:t>
            </a:r>
            <a:endParaRPr lang="ru-RU" dirty="0">
              <a:latin typeface="Consolas" panose="020B0609020204030204" pitchFamily="49" charset="0"/>
            </a:endParaRPr>
          </a:p>
          <a:p>
            <a:r>
              <a:rPr lang="ru-RU" dirty="0"/>
              <a:t>Возврат осуществляется в порядке, обратном к порядку сохранения.</a:t>
            </a:r>
          </a:p>
          <a:p>
            <a:r>
              <a:rPr lang="ru-RU" dirty="0"/>
              <a:t>Для отображения списка всех сохраненных директорий в порядке возвращения к ним с помощью </a:t>
            </a:r>
            <a:r>
              <a:rPr lang="en-US" dirty="0" err="1">
                <a:latin typeface="Consolas" panose="020B0609020204030204" pitchFamily="49" charset="0"/>
              </a:rPr>
              <a:t>popd</a:t>
            </a:r>
            <a:r>
              <a:rPr lang="en-US" dirty="0"/>
              <a:t> </a:t>
            </a:r>
            <a:r>
              <a:rPr lang="ru-RU" dirty="0"/>
              <a:t>используется команда</a:t>
            </a:r>
          </a:p>
          <a:p>
            <a:pPr marL="0" indent="0" algn="ctr">
              <a:buNone/>
            </a:pPr>
            <a:r>
              <a:rPr lang="en-US" dirty="0" err="1">
                <a:latin typeface="Consolas" panose="020B0609020204030204" pitchFamily="49" charset="0"/>
              </a:rPr>
              <a:t>dirs</a:t>
            </a:r>
            <a:endParaRPr lang="ru-RU" dirty="0">
              <a:latin typeface="Consolas" panose="020B0609020204030204" pitchFamily="49" charset="0"/>
            </a:endParaRP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6FDDACE-540B-1417-D10F-30566FACFB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Практика №2</a:t>
            </a:r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4C6FE7C-C29A-F9E4-F914-48E73B5CD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ru-RU"/>
              <a:t>№ </a:t>
            </a:r>
            <a:fld id="{C2001F1C-8CC0-448F-B9F6-3DE357E128D5}" type="slidenum">
              <a:rPr lang="ru-RU" smtClean="0"/>
              <a:pPr/>
              <a:t>20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632695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DDE4352-F6A2-8EA0-92EC-C621716E51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Перемещение по каталогам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8947450-1A1E-2D21-B37A-5EE17FF507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357188" indent="-357188">
              <a:buClr>
                <a:schemeClr val="accent1"/>
              </a:buClr>
              <a:buFont typeface="Arial" panose="020B0604020202020204" pitchFamily="34" charset="0"/>
              <a:buChar char="☼"/>
            </a:pPr>
            <a:r>
              <a:rPr lang="ru-RU" dirty="0"/>
              <a:t>Переместитесь в каталог </a:t>
            </a:r>
            <a:r>
              <a:rPr lang="en-US" dirty="0"/>
              <a:t>/var/log/journal</a:t>
            </a:r>
            <a:r>
              <a:rPr lang="ru-RU" dirty="0"/>
              <a:t>.</a:t>
            </a:r>
          </a:p>
          <a:p>
            <a:pPr marL="357188" indent="-357188">
              <a:buClr>
                <a:schemeClr val="accent1"/>
              </a:buClr>
              <a:buFont typeface="Arial" panose="020B0604020202020204" pitchFamily="34" charset="0"/>
              <a:buChar char="☼"/>
            </a:pPr>
            <a:r>
              <a:rPr lang="ru-RU" dirty="0"/>
              <a:t>Сохраните текущую директорию два раза. Убедитесь, что директории сохранены успешно с помощью </a:t>
            </a:r>
            <a:r>
              <a:rPr lang="en-US" dirty="0" err="1"/>
              <a:t>dirs</a:t>
            </a:r>
            <a:r>
              <a:rPr lang="ru-RU" dirty="0"/>
              <a:t>.</a:t>
            </a:r>
          </a:p>
          <a:p>
            <a:pPr marL="357188" indent="-357188">
              <a:buClr>
                <a:schemeClr val="accent1"/>
              </a:buClr>
              <a:buFont typeface="Arial" panose="020B0604020202020204" pitchFamily="34" charset="0"/>
              <a:buChar char="☼"/>
            </a:pPr>
            <a:r>
              <a:rPr lang="ru-RU" dirty="0"/>
              <a:t>С помощью относительного пути переместитесь сначала в каталог </a:t>
            </a:r>
            <a:r>
              <a:rPr lang="en-US" dirty="0"/>
              <a:t>/var/log, </a:t>
            </a:r>
            <a:r>
              <a:rPr lang="ru-RU" dirty="0"/>
              <a:t>а затем в каталог </a:t>
            </a:r>
            <a:r>
              <a:rPr lang="en-US" dirty="0"/>
              <a:t>/var/log/apt</a:t>
            </a:r>
            <a:r>
              <a:rPr lang="ru-RU" dirty="0"/>
              <a:t>.</a:t>
            </a:r>
          </a:p>
          <a:p>
            <a:pPr marL="357188" indent="-357188">
              <a:buClr>
                <a:schemeClr val="accent1"/>
              </a:buClr>
              <a:buFont typeface="Arial" panose="020B0604020202020204" pitchFamily="34" charset="0"/>
              <a:buChar char="☼"/>
            </a:pPr>
            <a:r>
              <a:rPr lang="ru-RU" dirty="0"/>
              <a:t>Вернитесь в сохраненную директорию.</a:t>
            </a:r>
          </a:p>
          <a:p>
            <a:pPr marL="357188" indent="-357188">
              <a:buClr>
                <a:schemeClr val="accent1"/>
              </a:buClr>
              <a:buFont typeface="Arial" panose="020B0604020202020204" pitchFamily="34" charset="0"/>
              <a:buChar char="☼"/>
            </a:pPr>
            <a:r>
              <a:rPr lang="ru-RU" dirty="0"/>
              <a:t>Введите команду </a:t>
            </a:r>
            <a:r>
              <a:rPr lang="en-US" dirty="0">
                <a:latin typeface="Consolas" panose="020B0609020204030204" pitchFamily="49" charset="0"/>
              </a:rPr>
              <a:t>cd ../././</a:t>
            </a:r>
            <a:r>
              <a:rPr lang="en-US" dirty="0" err="1">
                <a:latin typeface="Consolas" panose="020B0609020204030204" pitchFamily="49" charset="0"/>
              </a:rPr>
              <a:t>sysstat</a:t>
            </a:r>
            <a:r>
              <a:rPr lang="en-US" dirty="0">
                <a:latin typeface="Consolas" panose="020B0609020204030204" pitchFamily="49" charset="0"/>
              </a:rPr>
              <a:t>/./..</a:t>
            </a:r>
            <a:r>
              <a:rPr lang="en-US" dirty="0"/>
              <a:t> </a:t>
            </a:r>
            <a:r>
              <a:rPr lang="ru-RU" dirty="0"/>
              <a:t>. В каком каталоге вы оказались?</a:t>
            </a:r>
          </a:p>
          <a:p>
            <a:pPr marL="357188" indent="-357188">
              <a:buClr>
                <a:schemeClr val="accent1"/>
              </a:buClr>
              <a:buFont typeface="Arial" panose="020B0604020202020204" pitchFamily="34" charset="0"/>
              <a:buChar char="☼"/>
            </a:pPr>
            <a:r>
              <a:rPr lang="ru-RU" dirty="0"/>
              <a:t>Снова вернитесь в сохраненную директорию.</a:t>
            </a:r>
          </a:p>
          <a:p>
            <a:pPr marL="357188" indent="-357188">
              <a:buClr>
                <a:srgbClr val="FF0000"/>
              </a:buClr>
              <a:buFont typeface="Arial" panose="020B0604020202020204" pitchFamily="34" charset="0"/>
              <a:buChar char="☼"/>
            </a:pPr>
            <a:r>
              <a:rPr lang="ru-RU" dirty="0"/>
              <a:t>Попробуйте переместиться в корневой каталог </a:t>
            </a:r>
            <a:r>
              <a:rPr lang="en-US" dirty="0"/>
              <a:t>/</a:t>
            </a:r>
            <a:r>
              <a:rPr lang="ru-RU" dirty="0"/>
              <a:t> за одну команду, используя относительный путь. Как выглядит команда?</a:t>
            </a: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0F867FDB-79BE-BDC4-A020-247503F3E2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Практика №2</a:t>
            </a:r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69615F8-C2FE-FB69-8FA6-E7C0AEE8E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ru-RU"/>
              <a:t>№ </a:t>
            </a:r>
            <a:fld id="{C2001F1C-8CC0-448F-B9F6-3DE357E128D5}" type="slidenum">
              <a:rPr lang="ru-RU" smtClean="0"/>
              <a:pPr/>
              <a:t>21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571734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2BC972AE-F29C-BCA0-417D-0930B9DC84F0}"/>
              </a:ext>
            </a:extLst>
          </p:cNvPr>
          <p:cNvSpPr/>
          <p:nvPr/>
        </p:nvSpPr>
        <p:spPr>
          <a:xfrm>
            <a:off x="1051034" y="3268717"/>
            <a:ext cx="10258097" cy="2774731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4E5EC27B-EB05-E7E3-8708-F6E445974F7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74099" y="2252008"/>
            <a:ext cx="11102894" cy="3570724"/>
          </a:xfrm>
        </p:spPr>
        <p:txBody>
          <a:bodyPr/>
          <a:lstStyle/>
          <a:p>
            <a:pPr algn="just"/>
            <a:r>
              <a:rPr lang="ru-RU" sz="2800" dirty="0"/>
              <a:t>В какой папке оказался пользователь, если известно, что изначально он находится в домашнем каталоге, а также дан список его команд:</a:t>
            </a:r>
            <a:endParaRPr lang="en-US" sz="2800" dirty="0"/>
          </a:p>
          <a:p>
            <a:pPr algn="just">
              <a:spcBef>
                <a:spcPts val="0"/>
              </a:spcBef>
            </a:pPr>
            <a:endParaRPr lang="en-US" sz="2000" dirty="0">
              <a:latin typeface="Consolas" panose="020B0609020204030204" pitchFamily="49" charset="0"/>
            </a:endParaRPr>
          </a:p>
          <a:p>
            <a:pPr marL="514350" indent="-514350" algn="just">
              <a:spcBef>
                <a:spcPts val="0"/>
              </a:spcBef>
              <a:buFont typeface="+mj-lt"/>
              <a:buAutoNum type="arabicPeriod"/>
            </a:pPr>
            <a:r>
              <a:rPr lang="en-US" sz="2400" dirty="0">
                <a:latin typeface="Consolas" panose="020B0609020204030204" pitchFamily="49" charset="0"/>
              </a:rPr>
              <a:t>cd /media</a:t>
            </a:r>
          </a:p>
          <a:p>
            <a:pPr marL="514350" indent="-514350" algn="just">
              <a:spcBef>
                <a:spcPts val="0"/>
              </a:spcBef>
              <a:buFont typeface="+mj-lt"/>
              <a:buAutoNum type="arabicPeriod"/>
            </a:pPr>
            <a:r>
              <a:rPr lang="en-US" sz="2400" dirty="0" err="1">
                <a:latin typeface="Consolas" panose="020B0609020204030204" pitchFamily="49" charset="0"/>
              </a:rPr>
              <a:t>pushd</a:t>
            </a:r>
            <a:r>
              <a:rPr lang="en-US" sz="2400" dirty="0">
                <a:latin typeface="Consolas" panose="020B0609020204030204" pitchFamily="49" charset="0"/>
              </a:rPr>
              <a:t> .</a:t>
            </a:r>
          </a:p>
          <a:p>
            <a:pPr marL="514350" indent="-514350" algn="just">
              <a:spcBef>
                <a:spcPts val="0"/>
              </a:spcBef>
              <a:buFont typeface="+mj-lt"/>
              <a:buAutoNum type="arabicPeriod"/>
            </a:pPr>
            <a:r>
              <a:rPr lang="en-US" sz="2400" dirty="0" err="1">
                <a:latin typeface="Consolas" panose="020B0609020204030204" pitchFamily="49" charset="0"/>
              </a:rPr>
              <a:t>dirs</a:t>
            </a:r>
            <a:endParaRPr lang="en-US" sz="2400" dirty="0">
              <a:latin typeface="Consolas" panose="020B0609020204030204" pitchFamily="49" charset="0"/>
            </a:endParaRPr>
          </a:p>
          <a:p>
            <a:pPr marL="514350" indent="-514350" algn="just">
              <a:spcBef>
                <a:spcPts val="0"/>
              </a:spcBef>
              <a:buFont typeface="+mj-lt"/>
              <a:buAutoNum type="arabicPeriod"/>
            </a:pPr>
            <a:r>
              <a:rPr lang="en-US" sz="2400" dirty="0">
                <a:latin typeface="Consolas" panose="020B0609020204030204" pitchFamily="49" charset="0"/>
              </a:rPr>
              <a:t>cd /</a:t>
            </a:r>
            <a:r>
              <a:rPr lang="en-US" sz="2400" dirty="0" err="1">
                <a:latin typeface="Consolas" panose="020B0609020204030204" pitchFamily="49" charset="0"/>
              </a:rPr>
              <a:t>etc</a:t>
            </a:r>
            <a:r>
              <a:rPr lang="en-US" sz="2400" dirty="0">
                <a:latin typeface="Consolas" panose="020B0609020204030204" pitchFamily="49" charset="0"/>
              </a:rPr>
              <a:t>/network</a:t>
            </a:r>
          </a:p>
          <a:p>
            <a:pPr marL="514350" indent="-514350" algn="just">
              <a:spcBef>
                <a:spcPts val="0"/>
              </a:spcBef>
              <a:buFont typeface="+mj-lt"/>
              <a:buAutoNum type="arabicPeriod"/>
            </a:pPr>
            <a:r>
              <a:rPr lang="en-US" sz="2400" dirty="0" err="1">
                <a:latin typeface="Consolas" panose="020B0609020204030204" pitchFamily="49" charset="0"/>
              </a:rPr>
              <a:t>pushd</a:t>
            </a:r>
            <a:r>
              <a:rPr lang="en-US" sz="2400" dirty="0">
                <a:latin typeface="Consolas" panose="020B0609020204030204" pitchFamily="49" charset="0"/>
              </a:rPr>
              <a:t> ..</a:t>
            </a:r>
          </a:p>
          <a:p>
            <a:pPr marL="514350" indent="-514350" algn="just">
              <a:spcBef>
                <a:spcPts val="0"/>
              </a:spcBef>
              <a:buFont typeface="+mj-lt"/>
              <a:buAutoNum type="arabicPeriod"/>
            </a:pPr>
            <a:r>
              <a:rPr lang="en-US" sz="2400" dirty="0" err="1">
                <a:latin typeface="Consolas" panose="020B0609020204030204" pitchFamily="49" charset="0"/>
              </a:rPr>
              <a:t>uname</a:t>
            </a:r>
            <a:r>
              <a:rPr lang="en-US" sz="2400" dirty="0">
                <a:latin typeface="Consolas" panose="020B0609020204030204" pitchFamily="49" charset="0"/>
              </a:rPr>
              <a:t> -a</a:t>
            </a:r>
          </a:p>
          <a:p>
            <a:pPr marL="514350" indent="-514350" algn="just">
              <a:spcBef>
                <a:spcPts val="0"/>
              </a:spcBef>
              <a:buFont typeface="+mj-lt"/>
              <a:buAutoNum type="arabicPeriod"/>
            </a:pPr>
            <a:r>
              <a:rPr lang="en-US" sz="2400" dirty="0">
                <a:latin typeface="Consolas" panose="020B0609020204030204" pitchFamily="49" charset="0"/>
              </a:rPr>
              <a:t>cd</a:t>
            </a:r>
          </a:p>
          <a:p>
            <a:pPr marL="514350" indent="-514350" algn="just">
              <a:spcBef>
                <a:spcPts val="0"/>
              </a:spcBef>
              <a:buFont typeface="+mj-lt"/>
              <a:buAutoNum type="arabicPeriod"/>
            </a:pPr>
            <a:r>
              <a:rPr lang="en-US" sz="2400" dirty="0" err="1">
                <a:latin typeface="Consolas" panose="020B0609020204030204" pitchFamily="49" charset="0"/>
              </a:rPr>
              <a:t>popd</a:t>
            </a:r>
            <a:endParaRPr lang="en-US" sz="2400" dirty="0">
              <a:latin typeface="Consolas" panose="020B0609020204030204" pitchFamily="49" charset="0"/>
            </a:endParaRP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6FC06D3-7164-C748-DF0C-0B2757B9E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Практика №2</a:t>
            </a:r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2F5610C-AD41-1531-59C1-C9BF5D721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ru-RU"/>
              <a:t>№ </a:t>
            </a:r>
            <a:fld id="{C2001F1C-8CC0-448F-B9F6-3DE357E128D5}" type="slidenum">
              <a:rPr lang="ru-RU" smtClean="0"/>
              <a:pPr/>
              <a:t>22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244599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5E8675DC-DEF4-7934-FA42-0A31F1795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Вывод информации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293FE901-71B3-50CB-B634-5FA57A2B43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Вывод информации о каталогах</a:t>
            </a:r>
          </a:p>
          <a:p>
            <a:r>
              <a:rPr lang="ru-RU" dirty="0"/>
              <a:t>Чтение информации из файлов</a:t>
            </a:r>
          </a:p>
          <a:p>
            <a:r>
              <a:rPr lang="ru-RU" dirty="0"/>
              <a:t>Поиск информации</a:t>
            </a:r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338AE4BE-D551-C52D-772E-28FAC7487E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Практика №2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CD74EFF-DFEC-1D91-BB43-2AE424EC3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ru-RU"/>
              <a:t>№ </a:t>
            </a:r>
            <a:fld id="{C2001F1C-8CC0-448F-B9F6-3DE357E128D5}" type="slidenum">
              <a:rPr lang="ru-RU" smtClean="0"/>
              <a:pPr/>
              <a:t>23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166940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7">
            <a:extLst>
              <a:ext uri="{FF2B5EF4-FFF2-40B4-BE49-F238E27FC236}">
                <a16:creationId xmlns:a16="http://schemas.microsoft.com/office/drawing/2014/main" id="{BB7B1A01-1179-73F5-3525-EFDFD6C02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Вывод информации</a:t>
            </a:r>
          </a:p>
        </p:txBody>
      </p:sp>
      <p:sp>
        <p:nvSpPr>
          <p:cNvPr id="9" name="Объект 8">
            <a:extLst>
              <a:ext uri="{FF2B5EF4-FFF2-40B4-BE49-F238E27FC236}">
                <a16:creationId xmlns:a16="http://schemas.microsoft.com/office/drawing/2014/main" id="{D42F418C-9E51-A506-2DE8-2776862969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95000"/>
              </a:lnSpc>
            </a:pPr>
            <a:r>
              <a:rPr lang="ru-RU" dirty="0"/>
              <a:t>Для вывода информации о каталоге или конкретном файле можно воспользоваться командой</a:t>
            </a:r>
          </a:p>
          <a:p>
            <a:pPr marL="0" indent="0" algn="ctr">
              <a:lnSpc>
                <a:spcPct val="95000"/>
              </a:lnSpc>
              <a:buNone/>
            </a:pPr>
            <a:r>
              <a:rPr lang="en-US" dirty="0">
                <a:latin typeface="Consolas" panose="020B0609020204030204" pitchFamily="49" charset="0"/>
              </a:rPr>
              <a:t>ls 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[</a:t>
            </a:r>
            <a:r>
              <a:rPr lang="ru-RU" dirty="0">
                <a:solidFill>
                  <a:schemeClr val="accent1"/>
                </a:solidFill>
                <a:latin typeface="Consolas" panose="020B0609020204030204" pitchFamily="49" charset="0"/>
              </a:rPr>
              <a:t>каталог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/</a:t>
            </a:r>
            <a:r>
              <a:rPr lang="ru-RU" dirty="0">
                <a:solidFill>
                  <a:schemeClr val="accent1"/>
                </a:solidFill>
                <a:latin typeface="Consolas" panose="020B0609020204030204" pitchFamily="49" charset="0"/>
              </a:rPr>
              <a:t>файл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]…</a:t>
            </a:r>
            <a:endParaRPr lang="ru-RU" dirty="0">
              <a:solidFill>
                <a:schemeClr val="accent1"/>
              </a:solidFill>
              <a:latin typeface="Consolas" panose="020B0609020204030204" pitchFamily="49" charset="0"/>
            </a:endParaRPr>
          </a:p>
          <a:p>
            <a:pPr marL="179388" indent="0">
              <a:lnSpc>
                <a:spcPct val="95000"/>
              </a:lnSpc>
              <a:buNone/>
            </a:pPr>
            <a:r>
              <a:rPr lang="ru-RU" dirty="0"/>
              <a:t>что означает </a:t>
            </a:r>
            <a:r>
              <a:rPr lang="en-US" i="1" dirty="0"/>
              <a:t>list</a:t>
            </a:r>
            <a:r>
              <a:rPr lang="en-US" dirty="0"/>
              <a:t>. </a:t>
            </a:r>
            <a:r>
              <a:rPr lang="ru-RU" dirty="0"/>
              <a:t>Если команду выполнить без аргументов, то осуществится вывод файлов в текущем каталоге.</a:t>
            </a:r>
          </a:p>
          <a:p>
            <a:pPr>
              <a:lnSpc>
                <a:spcPct val="95000"/>
              </a:lnSpc>
            </a:pPr>
            <a:r>
              <a:rPr lang="ru-RU" dirty="0"/>
              <a:t>У команды есть несколько удобных аргументов:</a:t>
            </a:r>
          </a:p>
          <a:p>
            <a:pPr marL="357188" indent="0">
              <a:lnSpc>
                <a:spcPct val="95000"/>
              </a:lnSpc>
              <a:buNone/>
            </a:pPr>
            <a:r>
              <a:rPr lang="ru-RU" dirty="0">
                <a:latin typeface="Consolas" panose="020B0609020204030204" pitchFamily="49" charset="0"/>
              </a:rPr>
              <a:t>-</a:t>
            </a:r>
            <a:r>
              <a:rPr lang="en-US" dirty="0">
                <a:latin typeface="Consolas" panose="020B0609020204030204" pitchFamily="49" charset="0"/>
              </a:rPr>
              <a:t>a</a:t>
            </a:r>
            <a:r>
              <a:rPr lang="ru-RU" dirty="0"/>
              <a:t>	— вывести все файлы</a:t>
            </a:r>
          </a:p>
          <a:p>
            <a:pPr marL="357188" indent="0">
              <a:lnSpc>
                <a:spcPct val="95000"/>
              </a:lnSpc>
              <a:buNone/>
            </a:pPr>
            <a:r>
              <a:rPr lang="ru-RU" dirty="0">
                <a:latin typeface="Consolas" panose="020B0609020204030204" pitchFamily="49" charset="0"/>
              </a:rPr>
              <a:t>-</a:t>
            </a:r>
            <a:r>
              <a:rPr lang="en-US" dirty="0">
                <a:latin typeface="Consolas" panose="020B0609020204030204" pitchFamily="49" charset="0"/>
              </a:rPr>
              <a:t>A</a:t>
            </a:r>
            <a:r>
              <a:rPr lang="ru-RU" dirty="0"/>
              <a:t>	— вывести все файлы, кроме </a:t>
            </a:r>
            <a:r>
              <a:rPr lang="en-US" dirty="0"/>
              <a:t>. </a:t>
            </a:r>
            <a:r>
              <a:rPr lang="ru-RU" dirty="0"/>
              <a:t>и </a:t>
            </a:r>
            <a:r>
              <a:rPr lang="en-US" dirty="0"/>
              <a:t>..</a:t>
            </a:r>
            <a:endParaRPr lang="ru-RU" dirty="0"/>
          </a:p>
          <a:p>
            <a:pPr marL="357188" indent="0">
              <a:lnSpc>
                <a:spcPct val="95000"/>
              </a:lnSpc>
              <a:buNone/>
            </a:pPr>
            <a:r>
              <a:rPr lang="en-US" dirty="0">
                <a:latin typeface="Consolas" panose="020B0609020204030204" pitchFamily="49" charset="0"/>
              </a:rPr>
              <a:t>-l</a:t>
            </a:r>
            <a:r>
              <a:rPr lang="ru-RU" dirty="0"/>
              <a:t>	— вывести информацию в виде вертикального списка</a:t>
            </a:r>
          </a:p>
          <a:p>
            <a:pPr marL="357188" indent="0">
              <a:lnSpc>
                <a:spcPct val="95000"/>
              </a:lnSpc>
              <a:buNone/>
            </a:pPr>
            <a:r>
              <a:rPr lang="en-US" dirty="0">
                <a:latin typeface="Consolas" panose="020B0609020204030204" pitchFamily="49" charset="0"/>
              </a:rPr>
              <a:t>-h</a:t>
            </a:r>
            <a:r>
              <a:rPr lang="ru-RU" dirty="0"/>
              <a:t>	— вывести информацию в «человеческом» формате</a:t>
            </a:r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9C1E8C8B-0CD9-EDD6-1D51-83822DE49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Практика №2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E0294E1-DAC8-DF1C-D32E-BB89F93C7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ru-RU"/>
              <a:t>№ </a:t>
            </a:r>
            <a:fld id="{C2001F1C-8CC0-448F-B9F6-3DE357E128D5}" type="slidenum">
              <a:rPr lang="ru-RU" smtClean="0"/>
              <a:pPr/>
              <a:t>24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0911674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F278F1-F717-C035-31A4-710081A47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Вывод информации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7CB80DA-0413-9824-B019-B0E3D4D142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В случае вывода информации в виде списка</a:t>
            </a:r>
          </a:p>
          <a:p>
            <a:endParaRPr lang="ru-RU" dirty="0"/>
          </a:p>
          <a:p>
            <a:pPr marL="179388" indent="0">
              <a:buNone/>
            </a:pPr>
            <a:endParaRPr lang="ru-RU" dirty="0"/>
          </a:p>
          <a:p>
            <a:pPr marL="179388" indent="0">
              <a:buNone/>
            </a:pPr>
            <a:r>
              <a:rPr lang="ru-RU" dirty="0"/>
              <a:t>строка результата имеет следующий формат</a:t>
            </a:r>
          </a:p>
          <a:p>
            <a:pPr marL="0" indent="0" algn="ctr">
              <a:buNone/>
            </a:pPr>
            <a:r>
              <a:rPr lang="en-US" sz="2400" dirty="0">
                <a:latin typeface="Consolas" panose="020B0609020204030204" pitchFamily="49" charset="0"/>
              </a:rPr>
              <a:t>{</a:t>
            </a:r>
            <a:r>
              <a:rPr lang="ru-RU" sz="2400" dirty="0">
                <a:solidFill>
                  <a:schemeClr val="accent1"/>
                </a:solidFill>
                <a:latin typeface="Consolas" panose="020B0609020204030204" pitchFamily="49" charset="0"/>
              </a:rPr>
              <a:t>тип</a:t>
            </a:r>
            <a:r>
              <a:rPr lang="en-US" sz="2400" dirty="0">
                <a:latin typeface="Consolas" panose="020B0609020204030204" pitchFamily="49" charset="0"/>
              </a:rPr>
              <a:t>}{</a:t>
            </a:r>
            <a:r>
              <a:rPr lang="ru-RU" sz="2400" dirty="0">
                <a:solidFill>
                  <a:schemeClr val="accent4"/>
                </a:solidFill>
                <a:latin typeface="Consolas" panose="020B0609020204030204" pitchFamily="49" charset="0"/>
              </a:rPr>
              <a:t>права</a:t>
            </a:r>
            <a:r>
              <a:rPr lang="en-US" sz="2400" dirty="0">
                <a:latin typeface="Consolas" panose="020B0609020204030204" pitchFamily="49" charset="0"/>
              </a:rPr>
              <a:t>}</a:t>
            </a:r>
            <a:r>
              <a:rPr lang="ru-RU" sz="2400" dirty="0">
                <a:latin typeface="Consolas" panose="020B0609020204030204" pitchFamily="49" charset="0"/>
              </a:rPr>
              <a:t> </a:t>
            </a:r>
            <a:r>
              <a:rPr lang="en-US" sz="2400" dirty="0">
                <a:latin typeface="Consolas" panose="020B0609020204030204" pitchFamily="49" charset="0"/>
              </a:rPr>
              <a:t>{</a:t>
            </a:r>
            <a:r>
              <a:rPr lang="ru-RU" sz="2400" dirty="0">
                <a:solidFill>
                  <a:schemeClr val="accent2"/>
                </a:solidFill>
                <a:latin typeface="Consolas" panose="020B0609020204030204" pitchFamily="49" charset="0"/>
              </a:rPr>
              <a:t>ссылки</a:t>
            </a:r>
            <a:r>
              <a:rPr lang="en-US" sz="2400" dirty="0">
                <a:latin typeface="Consolas" panose="020B0609020204030204" pitchFamily="49" charset="0"/>
              </a:rPr>
              <a:t>} {</a:t>
            </a:r>
            <a:r>
              <a:rPr lang="ru-RU" sz="2400" dirty="0">
                <a:solidFill>
                  <a:srgbClr val="00B050"/>
                </a:solidFill>
                <a:latin typeface="Consolas" panose="020B0609020204030204" pitchFamily="49" charset="0"/>
              </a:rPr>
              <a:t>владелец</a:t>
            </a:r>
            <a:r>
              <a:rPr lang="en-US" sz="2400" dirty="0">
                <a:latin typeface="Consolas" panose="020B0609020204030204" pitchFamily="49" charset="0"/>
              </a:rPr>
              <a:t>}</a:t>
            </a:r>
            <a:r>
              <a:rPr lang="ru-RU" sz="2400" dirty="0">
                <a:latin typeface="Consolas" panose="020B0609020204030204" pitchFamily="49" charset="0"/>
              </a:rPr>
              <a:t> </a:t>
            </a:r>
            <a:r>
              <a:rPr lang="en-US" sz="2400" dirty="0">
                <a:latin typeface="Consolas" panose="020B0609020204030204" pitchFamily="49" charset="0"/>
              </a:rPr>
              <a:t>{</a:t>
            </a:r>
            <a:r>
              <a:rPr lang="ru-RU" sz="2400" dirty="0">
                <a:solidFill>
                  <a:schemeClr val="accent6"/>
                </a:solidFill>
                <a:latin typeface="Consolas" panose="020B0609020204030204" pitchFamily="49" charset="0"/>
              </a:rPr>
              <a:t>группа</a:t>
            </a:r>
            <a:r>
              <a:rPr lang="en-US" sz="2400" dirty="0">
                <a:latin typeface="Consolas" panose="020B0609020204030204" pitchFamily="49" charset="0"/>
              </a:rPr>
              <a:t>}</a:t>
            </a:r>
            <a:r>
              <a:rPr lang="ru-RU" sz="2400" dirty="0">
                <a:latin typeface="Consolas" panose="020B0609020204030204" pitchFamily="49" charset="0"/>
              </a:rPr>
              <a:t> </a:t>
            </a:r>
            <a:r>
              <a:rPr lang="en-US" sz="2400" dirty="0">
                <a:latin typeface="Consolas" panose="020B0609020204030204" pitchFamily="49" charset="0"/>
              </a:rPr>
              <a:t>{</a:t>
            </a:r>
            <a:r>
              <a:rPr lang="ru-RU" sz="2400" dirty="0">
                <a:solidFill>
                  <a:srgbClr val="7030A0"/>
                </a:solidFill>
                <a:latin typeface="Consolas" panose="020B0609020204030204" pitchFamily="49" charset="0"/>
              </a:rPr>
              <a:t>размер</a:t>
            </a:r>
            <a:r>
              <a:rPr lang="en-US" sz="2400" dirty="0">
                <a:latin typeface="Consolas" panose="020B0609020204030204" pitchFamily="49" charset="0"/>
              </a:rPr>
              <a:t>} {</a:t>
            </a:r>
            <a:r>
              <a:rPr lang="ru-RU" sz="2400" dirty="0">
                <a:solidFill>
                  <a:srgbClr val="FF0000"/>
                </a:solidFill>
                <a:latin typeface="Consolas" panose="020B0609020204030204" pitchFamily="49" charset="0"/>
              </a:rPr>
              <a:t>дата</a:t>
            </a:r>
            <a:r>
              <a:rPr lang="en-US" sz="2400" dirty="0">
                <a:latin typeface="Consolas" panose="020B0609020204030204" pitchFamily="49" charset="0"/>
              </a:rPr>
              <a:t>}</a:t>
            </a:r>
            <a:r>
              <a:rPr lang="ru-RU" sz="2400" dirty="0">
                <a:latin typeface="Consolas" panose="020B0609020204030204" pitchFamily="49" charset="0"/>
              </a:rPr>
              <a:t> </a:t>
            </a:r>
            <a:r>
              <a:rPr lang="en-US" sz="2400" dirty="0">
                <a:latin typeface="Consolas" panose="020B0609020204030204" pitchFamily="49" charset="0"/>
              </a:rPr>
              <a:t>{</a:t>
            </a:r>
            <a:r>
              <a:rPr lang="ru-RU" sz="2400" dirty="0">
                <a:latin typeface="Consolas" panose="020B0609020204030204" pitchFamily="49" charset="0"/>
              </a:rPr>
              <a:t>путь</a:t>
            </a:r>
            <a:r>
              <a:rPr lang="en-US" sz="2400" dirty="0">
                <a:latin typeface="Consolas" panose="020B0609020204030204" pitchFamily="49" charset="0"/>
              </a:rPr>
              <a:t>}</a:t>
            </a:r>
          </a:p>
          <a:p>
            <a:endParaRPr lang="ru-RU" dirty="0"/>
          </a:p>
          <a:p>
            <a:pPr>
              <a:buClr>
                <a:srgbClr val="FF0000"/>
              </a:buClr>
              <a:buFont typeface="Times New Roman" panose="02020603050405020304" pitchFamily="18" charset="0"/>
              <a:buChar char="⁕"/>
            </a:pPr>
            <a:r>
              <a:rPr lang="ru-RU" dirty="0"/>
              <a:t>По желанию, можно разобрать с преподавателем. Информация о правах будет изложена в других практиках, а также на лекциях.</a:t>
            </a:r>
          </a:p>
          <a:p>
            <a:pPr marL="358775" indent="-358775">
              <a:buClr>
                <a:schemeClr val="accent1"/>
              </a:buClr>
              <a:buFont typeface="Arial" panose="020B0604020202020204" pitchFamily="34" charset="0"/>
              <a:buChar char="☼"/>
            </a:pPr>
            <a:r>
              <a:rPr lang="ru-RU" dirty="0"/>
              <a:t>Выведете всю информацию о домашней папке. Какие файлы там есть?</a:t>
            </a: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A30AB58-737D-E67C-FCF1-578299F522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Практика №2</a:t>
            </a:r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5EA1B42-0E1F-1667-E29C-599F759B2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ru-RU"/>
              <a:t>№ </a:t>
            </a:r>
            <a:fld id="{C2001F1C-8CC0-448F-B9F6-3DE357E128D5}" type="slidenum">
              <a:rPr lang="ru-RU" smtClean="0"/>
              <a:pPr/>
              <a:t>25</a:t>
            </a:fld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BFF8DCD-88E0-0424-2FD7-6BE7703C01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2873" y="2133600"/>
            <a:ext cx="8226253" cy="666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982993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19044237-D067-7689-807F-A7BBC9A42A3B}"/>
              </a:ext>
            </a:extLst>
          </p:cNvPr>
          <p:cNvSpPr/>
          <p:nvPr/>
        </p:nvSpPr>
        <p:spPr>
          <a:xfrm>
            <a:off x="358815" y="3530278"/>
            <a:ext cx="11435788" cy="1076445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0D017431-3C55-16AF-3093-747337C279F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74099" y="2462213"/>
            <a:ext cx="11012159" cy="3336925"/>
          </a:xfrm>
        </p:spPr>
        <p:txBody>
          <a:bodyPr/>
          <a:lstStyle/>
          <a:p>
            <a:r>
              <a:rPr lang="ru-RU" dirty="0"/>
              <a:t>Что можно сказать об этом файле?</a:t>
            </a:r>
          </a:p>
          <a:p>
            <a:endParaRPr lang="ru-RU" sz="2800" dirty="0">
              <a:solidFill>
                <a:schemeClr val="accent1"/>
              </a:solidFill>
              <a:latin typeface="Consolas" panose="020B0609020204030204" pitchFamily="49" charset="0"/>
            </a:endParaRPr>
          </a:p>
          <a:p>
            <a:r>
              <a:rPr lang="ru-RU" sz="2800" spc="-100" dirty="0">
                <a:solidFill>
                  <a:schemeClr val="accent1"/>
                </a:solidFill>
                <a:latin typeface="Consolas" panose="020B0609020204030204" pitchFamily="49" charset="0"/>
              </a:rPr>
              <a:t>-</a:t>
            </a:r>
            <a:r>
              <a:rPr lang="en-US" sz="2800" spc="-100" dirty="0" err="1">
                <a:solidFill>
                  <a:schemeClr val="accent4"/>
                </a:solidFill>
                <a:latin typeface="Consolas" panose="020B0609020204030204" pitchFamily="49" charset="0"/>
              </a:rPr>
              <a:t>rwxr-xr</a:t>
            </a:r>
            <a:r>
              <a:rPr lang="en-US" sz="2800" spc="-100" dirty="0">
                <a:solidFill>
                  <a:schemeClr val="accent4"/>
                </a:solidFill>
                <a:latin typeface="Consolas" panose="020B0609020204030204" pitchFamily="49" charset="0"/>
              </a:rPr>
              <a:t>--</a:t>
            </a:r>
            <a:r>
              <a:rPr lang="ru-RU" sz="2800" spc="-100" dirty="0">
                <a:latin typeface="Consolas" panose="020B0609020204030204" pitchFamily="49" charset="0"/>
              </a:rPr>
              <a:t> </a:t>
            </a:r>
            <a:r>
              <a:rPr lang="en-US" sz="2800" spc="-100" dirty="0">
                <a:solidFill>
                  <a:schemeClr val="accent2"/>
                </a:solidFill>
                <a:latin typeface="Consolas" panose="020B0609020204030204" pitchFamily="49" charset="0"/>
              </a:rPr>
              <a:t>2</a:t>
            </a:r>
            <a:r>
              <a:rPr lang="en-US" sz="2800" spc="-100" dirty="0">
                <a:latin typeface="Consolas" panose="020B0609020204030204" pitchFamily="49" charset="0"/>
              </a:rPr>
              <a:t> </a:t>
            </a:r>
            <a:r>
              <a:rPr lang="en-US" sz="2800" spc="-100" dirty="0">
                <a:solidFill>
                  <a:srgbClr val="00B050"/>
                </a:solidFill>
                <a:latin typeface="Consolas" panose="020B0609020204030204" pitchFamily="49" charset="0"/>
              </a:rPr>
              <a:t>test</a:t>
            </a:r>
            <a:r>
              <a:rPr lang="ru-RU" sz="2800" spc="-100" dirty="0">
                <a:latin typeface="Consolas" panose="020B0609020204030204" pitchFamily="49" charset="0"/>
              </a:rPr>
              <a:t> </a:t>
            </a:r>
            <a:r>
              <a:rPr lang="en-US" sz="2800" spc="-100" dirty="0">
                <a:solidFill>
                  <a:schemeClr val="accent6"/>
                </a:solidFill>
                <a:latin typeface="Consolas" panose="020B0609020204030204" pitchFamily="49" charset="0"/>
              </a:rPr>
              <a:t>user</a:t>
            </a:r>
            <a:r>
              <a:rPr lang="ru-RU" sz="2800" spc="-100" dirty="0">
                <a:latin typeface="Consolas" panose="020B0609020204030204" pitchFamily="49" charset="0"/>
              </a:rPr>
              <a:t> </a:t>
            </a:r>
            <a:r>
              <a:rPr lang="en-US" sz="2800" spc="-100" dirty="0">
                <a:solidFill>
                  <a:srgbClr val="7030A0"/>
                </a:solidFill>
                <a:latin typeface="Consolas" panose="020B0609020204030204" pitchFamily="49" charset="0"/>
              </a:rPr>
              <a:t>243</a:t>
            </a:r>
            <a:r>
              <a:rPr lang="ru-RU" sz="2800" spc="-100" dirty="0">
                <a:solidFill>
                  <a:srgbClr val="7030A0"/>
                </a:solidFill>
                <a:latin typeface="Consolas" panose="020B0609020204030204" pitchFamily="49" charset="0"/>
              </a:rPr>
              <a:t>68</a:t>
            </a:r>
            <a:r>
              <a:rPr lang="en-US" sz="2800" spc="-100" dirty="0">
                <a:latin typeface="Consolas" panose="020B0609020204030204" pitchFamily="49" charset="0"/>
              </a:rPr>
              <a:t> </a:t>
            </a:r>
            <a:r>
              <a:rPr lang="ru-RU" sz="2800" spc="-100" dirty="0">
                <a:solidFill>
                  <a:srgbClr val="FF0000"/>
                </a:solidFill>
                <a:latin typeface="Consolas" panose="020B0609020204030204" pitchFamily="49" charset="0"/>
              </a:rPr>
              <a:t>сен 1  2025</a:t>
            </a:r>
            <a:r>
              <a:rPr lang="ru-RU" sz="2800" spc="-100" dirty="0">
                <a:latin typeface="Consolas" panose="020B0609020204030204" pitchFamily="49" charset="0"/>
              </a:rPr>
              <a:t> </a:t>
            </a:r>
            <a:r>
              <a:rPr lang="en-US" sz="2800" spc="-100" dirty="0">
                <a:latin typeface="Consolas" panose="020B0609020204030204" pitchFamily="49" charset="0"/>
              </a:rPr>
              <a:t>/home/test/</a:t>
            </a:r>
            <a:r>
              <a:rPr lang="en-US" sz="2800" spc="-100" dirty="0" err="1">
                <a:latin typeface="Consolas" panose="020B0609020204030204" pitchFamily="49" charset="0"/>
              </a:rPr>
              <a:t>dz</a:t>
            </a:r>
            <a:endParaRPr lang="en-US" sz="2800" spc="-100" dirty="0">
              <a:latin typeface="Consolas" panose="020B0609020204030204" pitchFamily="49" charset="0"/>
            </a:endParaRP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C813F5A0-9F35-FBBC-1A60-545E389717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Практика №2</a:t>
            </a:r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827B182-CFB3-670F-4E12-D4AFE3AC8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ru-RU"/>
              <a:t>№ </a:t>
            </a:r>
            <a:fld id="{C2001F1C-8CC0-448F-B9F6-3DE357E128D5}" type="slidenum">
              <a:rPr lang="ru-RU" smtClean="0"/>
              <a:pPr/>
              <a:t>26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735231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EBB34C-67DB-9935-DD3D-E46283D59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Вывод информации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E956037-D436-A7CD-16F8-D639E58B2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Для того, чтобы вывести содержимое определенных файлов, расположенных по </a:t>
            </a:r>
            <a:r>
              <a:rPr lang="ru-RU" i="1" dirty="0"/>
              <a:t>пути</a:t>
            </a:r>
            <a:r>
              <a:rPr lang="ru-RU" dirty="0"/>
              <a:t>, используется команда</a:t>
            </a:r>
          </a:p>
          <a:p>
            <a:pPr marL="0" indent="0" algn="ctr">
              <a:buNone/>
            </a:pPr>
            <a:r>
              <a:rPr lang="en-US" dirty="0">
                <a:latin typeface="Consolas" panose="020B0609020204030204" pitchFamily="49" charset="0"/>
              </a:rPr>
              <a:t>cat 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[</a:t>
            </a:r>
            <a:r>
              <a:rPr lang="ru-RU" dirty="0">
                <a:solidFill>
                  <a:schemeClr val="accent1"/>
                </a:solidFill>
                <a:latin typeface="Consolas" panose="020B0609020204030204" pitchFamily="49" charset="0"/>
              </a:rPr>
              <a:t>путь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]</a:t>
            </a:r>
            <a:r>
              <a:rPr lang="ru-RU" dirty="0">
                <a:solidFill>
                  <a:schemeClr val="accent1"/>
                </a:solidFill>
                <a:latin typeface="Consolas" panose="020B0609020204030204" pitchFamily="49" charset="0"/>
              </a:rPr>
              <a:t>…</a:t>
            </a:r>
          </a:p>
          <a:p>
            <a:pPr marL="0" indent="0">
              <a:buNone/>
            </a:pPr>
            <a:r>
              <a:rPr lang="ru-RU" dirty="0"/>
              <a:t>что означает </a:t>
            </a:r>
            <a:r>
              <a:rPr lang="en-US" i="1" dirty="0"/>
              <a:t>concatenate</a:t>
            </a:r>
            <a:r>
              <a:rPr lang="ru-RU" dirty="0"/>
              <a:t> за счет способности данной утилиты объединять читаемые файлы.</a:t>
            </a:r>
          </a:p>
          <a:p>
            <a:pPr marL="358775" indent="-358775">
              <a:buClr>
                <a:schemeClr val="accent1"/>
              </a:buClr>
              <a:buFont typeface="Arial" panose="020B0604020202020204" pitchFamily="34" charset="0"/>
              <a:buChar char="☼"/>
            </a:pPr>
            <a:r>
              <a:rPr lang="ru-RU" dirty="0"/>
              <a:t>Выведите информацию из файла </a:t>
            </a:r>
            <a:r>
              <a:rPr lang="en-US" dirty="0">
                <a:latin typeface="Consolas" panose="020B0609020204030204" pitchFamily="49" charset="0"/>
              </a:rPr>
              <a:t>/</a:t>
            </a:r>
            <a:r>
              <a:rPr lang="en-US" dirty="0" err="1">
                <a:latin typeface="Consolas" panose="020B0609020204030204" pitchFamily="49" charset="0"/>
              </a:rPr>
              <a:t>usr</a:t>
            </a:r>
            <a:r>
              <a:rPr lang="en-US" dirty="0">
                <a:latin typeface="Consolas" panose="020B0609020204030204" pitchFamily="49" charset="0"/>
              </a:rPr>
              <a:t>/include/</a:t>
            </a:r>
            <a:r>
              <a:rPr lang="en-US" dirty="0" err="1">
                <a:latin typeface="Consolas" panose="020B0609020204030204" pitchFamily="49" charset="0"/>
              </a:rPr>
              <a:t>errno.h</a:t>
            </a:r>
            <a:r>
              <a:rPr lang="en-US" dirty="0"/>
              <a:t> </a:t>
            </a:r>
            <a:r>
              <a:rPr lang="ru-RU" dirty="0"/>
              <a:t>на экран.</a:t>
            </a:r>
            <a:endParaRPr lang="en-US" dirty="0"/>
          </a:p>
          <a:p>
            <a:pPr marL="358775" indent="-358775">
              <a:buClr>
                <a:schemeClr val="accent1"/>
              </a:buClr>
              <a:buFont typeface="Arial" panose="020B0604020202020204" pitchFamily="34" charset="0"/>
              <a:buChar char="☼"/>
            </a:pPr>
            <a:r>
              <a:rPr lang="ru-RU" dirty="0"/>
              <a:t>Объедините информацию из файлов </a:t>
            </a:r>
            <a:r>
              <a:rPr lang="en-US" dirty="0">
                <a:latin typeface="Consolas" panose="020B0609020204030204" pitchFamily="49" charset="0"/>
              </a:rPr>
              <a:t>/</a:t>
            </a:r>
            <a:r>
              <a:rPr lang="en-US" dirty="0" err="1">
                <a:latin typeface="Consolas" panose="020B0609020204030204" pitchFamily="49" charset="0"/>
              </a:rPr>
              <a:t>etc</a:t>
            </a:r>
            <a:r>
              <a:rPr lang="en-US" dirty="0">
                <a:latin typeface="Consolas" panose="020B0609020204030204" pitchFamily="49" charset="0"/>
              </a:rPr>
              <a:t>/</a:t>
            </a:r>
            <a:r>
              <a:rPr lang="en-US" dirty="0" err="1">
                <a:latin typeface="Consolas" panose="020B0609020204030204" pitchFamily="49" charset="0"/>
              </a:rPr>
              <a:t>fstab</a:t>
            </a:r>
            <a:r>
              <a:rPr lang="en-US" dirty="0"/>
              <a:t> </a:t>
            </a:r>
            <a:r>
              <a:rPr lang="ru-RU" dirty="0"/>
              <a:t>и </a:t>
            </a:r>
            <a:r>
              <a:rPr lang="en-US" dirty="0">
                <a:latin typeface="Consolas" panose="020B0609020204030204" pitchFamily="49" charset="0"/>
              </a:rPr>
              <a:t>/</a:t>
            </a:r>
            <a:r>
              <a:rPr lang="en-US" dirty="0" err="1">
                <a:latin typeface="Consolas" panose="020B0609020204030204" pitchFamily="49" charset="0"/>
              </a:rPr>
              <a:t>etc</a:t>
            </a:r>
            <a:r>
              <a:rPr lang="en-US" dirty="0">
                <a:latin typeface="Consolas" panose="020B0609020204030204" pitchFamily="49" charset="0"/>
              </a:rPr>
              <a:t>/passwd</a:t>
            </a:r>
            <a:r>
              <a:rPr lang="ru-RU" dirty="0"/>
              <a:t>.</a:t>
            </a: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70FE6A2-D111-F452-ACE3-A43E83152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Практика №2</a:t>
            </a:r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CA1AB1E-A2EF-CB89-E76C-94E039119F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ru-RU"/>
              <a:t>№ </a:t>
            </a:r>
            <a:fld id="{C2001F1C-8CC0-448F-B9F6-3DE357E128D5}" type="slidenum">
              <a:rPr lang="ru-RU" smtClean="0"/>
              <a:pPr/>
              <a:t>27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8105640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C16B9A-05C9-3697-48A0-796249AF1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Поиск информации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FF7C03D-BADB-CB24-C937-2139E1ED13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Для поиска конкретного фрагмента данных в файле используется утилита </a:t>
            </a:r>
            <a:r>
              <a:rPr lang="en-US" dirty="0"/>
              <a:t>grep</a:t>
            </a:r>
            <a:endParaRPr lang="ru-RU" dirty="0">
              <a:solidFill>
                <a:schemeClr val="accent1"/>
              </a:solidFill>
            </a:endParaRPr>
          </a:p>
          <a:p>
            <a:pPr marL="0" indent="0" algn="ctr">
              <a:buNone/>
            </a:pPr>
            <a:r>
              <a:rPr lang="en-US" dirty="0">
                <a:latin typeface="Consolas" panose="020B0609020204030204" pitchFamily="49" charset="0"/>
              </a:rPr>
              <a:t>grep </a:t>
            </a:r>
            <a:r>
              <a:rPr lang="en-US" dirty="0">
                <a:solidFill>
                  <a:schemeClr val="accent6"/>
                </a:solidFill>
                <a:latin typeface="Consolas" panose="020B0609020204030204" pitchFamily="49" charset="0"/>
              </a:rPr>
              <a:t>{</a:t>
            </a:r>
            <a:r>
              <a:rPr lang="ru-RU" dirty="0">
                <a:solidFill>
                  <a:schemeClr val="accent6"/>
                </a:solidFill>
                <a:latin typeface="Consolas" panose="020B0609020204030204" pitchFamily="49" charset="0"/>
              </a:rPr>
              <a:t>строка</a:t>
            </a:r>
            <a:r>
              <a:rPr lang="en-US" dirty="0">
                <a:solidFill>
                  <a:schemeClr val="accent6"/>
                </a:solidFill>
                <a:latin typeface="Consolas" panose="020B0609020204030204" pitchFamily="49" charset="0"/>
              </a:rPr>
              <a:t>}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{</a:t>
            </a:r>
            <a:r>
              <a:rPr lang="ru-RU" dirty="0">
                <a:solidFill>
                  <a:schemeClr val="accent1"/>
                </a:solidFill>
                <a:latin typeface="Consolas" panose="020B0609020204030204" pitchFamily="49" charset="0"/>
              </a:rPr>
              <a:t>путь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}…</a:t>
            </a:r>
            <a:endParaRPr lang="ru-RU" dirty="0">
              <a:solidFill>
                <a:schemeClr val="accent1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dirty="0"/>
              <a:t>что означает</a:t>
            </a:r>
            <a:r>
              <a:rPr lang="en-US" dirty="0"/>
              <a:t> </a:t>
            </a:r>
            <a:r>
              <a:rPr lang="en-US" i="1" dirty="0"/>
              <a:t>global regular expression print</a:t>
            </a:r>
            <a:r>
              <a:rPr lang="ru-RU" dirty="0"/>
              <a:t> </a:t>
            </a:r>
            <a:r>
              <a:rPr lang="en-US" dirty="0"/>
              <a:t>— </a:t>
            </a:r>
            <a:r>
              <a:rPr lang="ru-RU" dirty="0"/>
              <a:t>глобальный поиск и вывод по регулярному выражению.</a:t>
            </a:r>
          </a:p>
          <a:p>
            <a:r>
              <a:rPr lang="ru-RU" dirty="0"/>
              <a:t>В качестве строки может выступать любое регулярное выражение, в том числе обычные строки.</a:t>
            </a:r>
          </a:p>
          <a:p>
            <a:pPr marL="358775" indent="-358775">
              <a:buClr>
                <a:schemeClr val="accent1"/>
              </a:buClr>
              <a:buFont typeface="Arial" panose="020B0604020202020204" pitchFamily="34" charset="0"/>
              <a:buChar char="☼"/>
            </a:pPr>
            <a:r>
              <a:rPr lang="ru-RU" dirty="0"/>
              <a:t>Найдите вхождения подстроки «</a:t>
            </a:r>
            <a:r>
              <a:rPr lang="en-US" dirty="0" err="1"/>
              <a:t>inet</a:t>
            </a:r>
            <a:r>
              <a:rPr lang="ru-RU" dirty="0"/>
              <a:t>» в файле </a:t>
            </a:r>
            <a:r>
              <a:rPr lang="en-US" dirty="0">
                <a:latin typeface="Consolas" panose="020B0609020204030204" pitchFamily="49" charset="0"/>
              </a:rPr>
              <a:t>/</a:t>
            </a:r>
            <a:r>
              <a:rPr lang="en-US" dirty="0" err="1">
                <a:latin typeface="Consolas" panose="020B0609020204030204" pitchFamily="49" charset="0"/>
              </a:rPr>
              <a:t>etc</a:t>
            </a:r>
            <a:r>
              <a:rPr lang="en-US" dirty="0">
                <a:latin typeface="Consolas" panose="020B0609020204030204" pitchFamily="49" charset="0"/>
              </a:rPr>
              <a:t>/</a:t>
            </a:r>
            <a:r>
              <a:rPr lang="en-US" dirty="0" err="1">
                <a:latin typeface="Consolas" panose="020B0609020204030204" pitchFamily="49" charset="0"/>
              </a:rPr>
              <a:t>netconfig</a:t>
            </a:r>
            <a:r>
              <a:rPr lang="ru-RU" dirty="0"/>
              <a:t>.</a:t>
            </a:r>
          </a:p>
          <a:p>
            <a:pPr marL="358775" indent="-358775">
              <a:buClr>
                <a:srgbClr val="FF0000"/>
              </a:buClr>
              <a:buFont typeface="Arial" panose="020B0604020202020204" pitchFamily="34" charset="0"/>
              <a:buChar char="☼"/>
            </a:pPr>
            <a:r>
              <a:rPr lang="ru-RU" dirty="0"/>
              <a:t>Используя регулярные выражения, отобразите все события из файла </a:t>
            </a:r>
            <a:r>
              <a:rPr lang="en-US" dirty="0">
                <a:latin typeface="Consolas" panose="020B0609020204030204" pitchFamily="49" charset="0"/>
              </a:rPr>
              <a:t>/var/log/syslog</a:t>
            </a:r>
            <a:r>
              <a:rPr lang="ru-RU" dirty="0"/>
              <a:t>, произошедшие за последний час.</a:t>
            </a: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F5611A9E-7B38-8AAE-EC65-25B6521FA0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Практика №2</a:t>
            </a:r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0E7BC0B-CD30-3F94-6002-1344AB8E5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ru-RU"/>
              <a:t>№ </a:t>
            </a:r>
            <a:fld id="{C2001F1C-8CC0-448F-B9F6-3DE357E128D5}" type="slidenum">
              <a:rPr lang="ru-RU" smtClean="0"/>
              <a:pPr/>
              <a:t>28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3426903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2A2F1D-9DDA-9A9B-BDD5-77A632CACD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Поиск информации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4D76BD8-7EAA-437F-9B7C-6F98DF4E3B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ru-RU" dirty="0"/>
              <a:t>Если необходимо отыскать в файловой системе какой либо файл или каталог, используется утилита </a:t>
            </a:r>
            <a:r>
              <a:rPr lang="en-US" dirty="0"/>
              <a:t>find</a:t>
            </a:r>
            <a:endParaRPr lang="ru-RU" dirty="0"/>
          </a:p>
          <a:p>
            <a:pPr marL="0" indent="0" algn="ctr">
              <a:buNone/>
            </a:pPr>
            <a:r>
              <a:rPr lang="en-US" dirty="0">
                <a:latin typeface="Consolas" panose="020B0609020204030204" pitchFamily="49" charset="0"/>
              </a:rPr>
              <a:t>find </a:t>
            </a:r>
            <a:r>
              <a:rPr lang="en-US" dirty="0">
                <a:solidFill>
                  <a:schemeClr val="accent6"/>
                </a:solidFill>
                <a:latin typeface="Consolas" panose="020B0609020204030204" pitchFamily="49" charset="0"/>
              </a:rPr>
              <a:t>{</a:t>
            </a:r>
            <a:r>
              <a:rPr lang="ru-RU" dirty="0">
                <a:solidFill>
                  <a:schemeClr val="accent6"/>
                </a:solidFill>
                <a:latin typeface="Consolas" panose="020B0609020204030204" pitchFamily="49" charset="0"/>
              </a:rPr>
              <a:t>путь</a:t>
            </a:r>
            <a:r>
              <a:rPr lang="en-US" dirty="0">
                <a:solidFill>
                  <a:schemeClr val="accent6"/>
                </a:solidFill>
                <a:latin typeface="Consolas" panose="020B0609020204030204" pitchFamily="49" charset="0"/>
              </a:rPr>
              <a:t>}</a:t>
            </a:r>
            <a:r>
              <a:rPr lang="ru-RU" dirty="0"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{</a:t>
            </a:r>
            <a:r>
              <a:rPr lang="ru-RU" dirty="0">
                <a:solidFill>
                  <a:schemeClr val="accent1"/>
                </a:solidFill>
                <a:latin typeface="Consolas" panose="020B0609020204030204" pitchFamily="49" charset="0"/>
              </a:rPr>
              <a:t>фильтр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}</a:t>
            </a:r>
            <a:r>
              <a:rPr lang="ru-RU" dirty="0">
                <a:solidFill>
                  <a:schemeClr val="accent1"/>
                </a:solidFill>
                <a:latin typeface="Consolas" panose="020B0609020204030204" pitchFamily="49" charset="0"/>
              </a:rPr>
              <a:t>…</a:t>
            </a:r>
          </a:p>
          <a:p>
            <a:pPr marL="173038" indent="0">
              <a:buNone/>
            </a:pPr>
            <a:r>
              <a:rPr lang="ru-RU" dirty="0"/>
              <a:t>что и означает «</a:t>
            </a:r>
            <a:r>
              <a:rPr lang="ru-RU" i="1" dirty="0"/>
              <a:t>найти</a:t>
            </a:r>
            <a:r>
              <a:rPr lang="ru-RU" dirty="0"/>
              <a:t>».</a:t>
            </a:r>
          </a:p>
          <a:p>
            <a:r>
              <a:rPr lang="ru-RU" dirty="0"/>
              <a:t>Наиболее частые фильтры:</a:t>
            </a:r>
          </a:p>
          <a:p>
            <a:pPr marL="358775" indent="0">
              <a:buNone/>
            </a:pPr>
            <a:r>
              <a:rPr lang="en-US" sz="2600" dirty="0">
                <a:latin typeface="Consolas" panose="020B0609020204030204" pitchFamily="49" charset="0"/>
              </a:rPr>
              <a:t>-name</a:t>
            </a:r>
            <a:r>
              <a:rPr lang="ru-RU" sz="2600" dirty="0"/>
              <a:t>	</a:t>
            </a:r>
            <a:r>
              <a:rPr lang="en-US" sz="2600" dirty="0"/>
              <a:t>	</a:t>
            </a:r>
            <a:r>
              <a:rPr lang="ru-RU" sz="2600" dirty="0"/>
              <a:t>— имя (строка)</a:t>
            </a:r>
          </a:p>
          <a:p>
            <a:pPr marL="358775" indent="0">
              <a:buNone/>
            </a:pPr>
            <a:r>
              <a:rPr lang="ru-RU" sz="2600" dirty="0">
                <a:latin typeface="Consolas" panose="020B0609020204030204" pitchFamily="49" charset="0"/>
              </a:rPr>
              <a:t>-</a:t>
            </a:r>
            <a:r>
              <a:rPr lang="en-US" sz="2600" dirty="0">
                <a:latin typeface="Consolas" panose="020B0609020204030204" pitchFamily="49" charset="0"/>
              </a:rPr>
              <a:t>user	</a:t>
            </a:r>
            <a:r>
              <a:rPr lang="ru-RU" sz="2600" dirty="0"/>
              <a:t>	— владелец (строка)</a:t>
            </a:r>
          </a:p>
          <a:p>
            <a:pPr marL="358775" indent="0">
              <a:buNone/>
            </a:pPr>
            <a:r>
              <a:rPr lang="en-US" sz="2600" dirty="0">
                <a:latin typeface="Consolas" panose="020B0609020204030204" pitchFamily="49" charset="0"/>
              </a:rPr>
              <a:t>-</a:t>
            </a:r>
            <a:r>
              <a:rPr lang="en-US" sz="2600" dirty="0" err="1">
                <a:latin typeface="Consolas" panose="020B0609020204030204" pitchFamily="49" charset="0"/>
              </a:rPr>
              <a:t>maxdepth</a:t>
            </a:r>
            <a:r>
              <a:rPr lang="en-US" sz="2600" dirty="0"/>
              <a:t>	</a:t>
            </a:r>
            <a:r>
              <a:rPr lang="ru-RU" sz="2600" dirty="0"/>
              <a:t>— максимальная глубина поиска</a:t>
            </a:r>
            <a:r>
              <a:rPr lang="en-US" sz="2600" dirty="0"/>
              <a:t> </a:t>
            </a:r>
            <a:r>
              <a:rPr lang="ru-RU" sz="2600" dirty="0"/>
              <a:t>(число)</a:t>
            </a:r>
          </a:p>
          <a:p>
            <a:pPr marL="358775" indent="0">
              <a:buNone/>
            </a:pPr>
            <a:r>
              <a:rPr lang="ru-RU" sz="2600" dirty="0">
                <a:latin typeface="Consolas" panose="020B0609020204030204" pitchFamily="49" charset="0"/>
              </a:rPr>
              <a:t>-</a:t>
            </a:r>
            <a:r>
              <a:rPr lang="en-US" sz="2600" dirty="0">
                <a:latin typeface="Consolas" panose="020B0609020204030204" pitchFamily="49" charset="0"/>
              </a:rPr>
              <a:t>type</a:t>
            </a:r>
            <a:r>
              <a:rPr lang="en-US" sz="2600" dirty="0"/>
              <a:t>		</a:t>
            </a:r>
            <a:r>
              <a:rPr lang="ru-RU" sz="2600" dirty="0"/>
              <a:t>— тип (</a:t>
            </a:r>
            <a:r>
              <a:rPr lang="en-US" sz="2600" dirty="0"/>
              <a:t>f </a:t>
            </a:r>
            <a:r>
              <a:rPr lang="ru-RU" sz="2600" dirty="0"/>
              <a:t>— файл, </a:t>
            </a:r>
            <a:r>
              <a:rPr lang="en-US" sz="2600" dirty="0"/>
              <a:t>d </a:t>
            </a:r>
            <a:r>
              <a:rPr lang="ru-RU" sz="2600" dirty="0"/>
              <a:t>— папка, …)</a:t>
            </a:r>
          </a:p>
          <a:p>
            <a:pPr marL="358775" indent="0">
              <a:buNone/>
            </a:pPr>
            <a:r>
              <a:rPr lang="ru-RU" sz="2600" dirty="0">
                <a:latin typeface="Consolas" panose="020B0609020204030204" pitchFamily="49" charset="0"/>
              </a:rPr>
              <a:t>-</a:t>
            </a:r>
            <a:r>
              <a:rPr lang="en-US" sz="2600" dirty="0">
                <a:latin typeface="Consolas" panose="020B0609020204030204" pitchFamily="49" charset="0"/>
              </a:rPr>
              <a:t>not		</a:t>
            </a:r>
            <a:r>
              <a:rPr lang="ru-RU" sz="2600" dirty="0"/>
              <a:t>— отрицание следующего фильтра</a:t>
            </a: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A0E993D7-9DAF-ADD2-D2BD-343AD301F3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Практика №2</a:t>
            </a:r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62D26DE-C3C6-7388-BC16-9386FC686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ru-RU"/>
              <a:t>№ </a:t>
            </a:r>
            <a:fld id="{C2001F1C-8CC0-448F-B9F6-3DE357E128D5}" type="slidenum">
              <a:rPr lang="ru-RU" smtClean="0"/>
              <a:pPr/>
              <a:t>29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4348742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A0E427-5192-E433-BA46-AE0D3F385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Поиск информации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019A3DE-6313-D4BB-BB9D-71C4B359BD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Пример использования — пусть необходимо отыскать все файлы, заканчивающиеся </a:t>
            </a:r>
            <a:r>
              <a:rPr lang="ru-RU" u="sng" dirty="0"/>
              <a:t>не</a:t>
            </a:r>
            <a:r>
              <a:rPr lang="ru-RU" dirty="0"/>
              <a:t> на </a:t>
            </a:r>
            <a:r>
              <a:rPr lang="en-US" dirty="0"/>
              <a:t>.h</a:t>
            </a:r>
            <a:r>
              <a:rPr lang="ru-RU" dirty="0"/>
              <a:t> в каталоге</a:t>
            </a:r>
            <a:r>
              <a:rPr lang="en-US" dirty="0"/>
              <a:t> /</a:t>
            </a:r>
            <a:r>
              <a:rPr lang="en-US" dirty="0" err="1"/>
              <a:t>usr</a:t>
            </a:r>
            <a:r>
              <a:rPr lang="en-US" dirty="0"/>
              <a:t>/include</a:t>
            </a:r>
            <a:r>
              <a:rPr lang="ru-RU" dirty="0"/>
              <a:t> с максимальной глубиной до двух папок.</a:t>
            </a:r>
          </a:p>
          <a:p>
            <a:pPr marL="0" indent="0" algn="ctr">
              <a:buNone/>
            </a:pPr>
            <a:r>
              <a:rPr lang="en-US" dirty="0">
                <a:latin typeface="Consolas" panose="020B0609020204030204" pitchFamily="49" charset="0"/>
              </a:rPr>
              <a:t>find /</a:t>
            </a:r>
            <a:r>
              <a:rPr lang="en-US" dirty="0" err="1">
                <a:latin typeface="Consolas" panose="020B0609020204030204" pitchFamily="49" charset="0"/>
              </a:rPr>
              <a:t>usr</a:t>
            </a:r>
            <a:r>
              <a:rPr lang="en-US" dirty="0">
                <a:latin typeface="Consolas" panose="020B0609020204030204" pitchFamily="49" charset="0"/>
              </a:rPr>
              <a:t>/include -</a:t>
            </a:r>
            <a:r>
              <a:rPr lang="en-US" dirty="0" err="1">
                <a:latin typeface="Consolas" panose="020B0609020204030204" pitchFamily="49" charset="0"/>
              </a:rPr>
              <a:t>maxdepth</a:t>
            </a:r>
            <a:r>
              <a:rPr lang="en-US" dirty="0">
                <a:latin typeface="Consolas" panose="020B0609020204030204" pitchFamily="49" charset="0"/>
              </a:rPr>
              <a:t> 2</a:t>
            </a:r>
            <a:r>
              <a:rPr lang="ru-RU" dirty="0">
                <a:latin typeface="Consolas" panose="020B0609020204030204" pitchFamily="49" charset="0"/>
              </a:rPr>
              <a:t> -</a:t>
            </a:r>
            <a:r>
              <a:rPr lang="en-US" dirty="0">
                <a:latin typeface="Consolas" panose="020B0609020204030204" pitchFamily="49" charset="0"/>
              </a:rPr>
              <a:t>not</a:t>
            </a:r>
            <a:r>
              <a:rPr lang="ru-RU" dirty="0">
                <a:latin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</a:rPr>
              <a:t>-name “*.h” -type f </a:t>
            </a:r>
          </a:p>
          <a:p>
            <a:r>
              <a:rPr lang="ru-RU" dirty="0"/>
              <a:t>В данном случае необязательно оборачивать имя в кавычки, однако в большинстве случаев стоит, так как </a:t>
            </a:r>
            <a:r>
              <a:rPr lang="en-US" dirty="0"/>
              <a:t>* </a:t>
            </a:r>
            <a:r>
              <a:rPr lang="ru-RU" dirty="0"/>
              <a:t>может обрабатываться </a:t>
            </a:r>
            <a:r>
              <a:rPr lang="en-US" dirty="0"/>
              <a:t>Bash </a:t>
            </a:r>
            <a:r>
              <a:rPr lang="ru-RU" dirty="0"/>
              <a:t>как подстановочный шаблон, а не строковое выражение в аргументе</a:t>
            </a:r>
            <a:r>
              <a:rPr lang="en-US" dirty="0"/>
              <a:t>.</a:t>
            </a:r>
            <a:endParaRPr lang="ru-RU" dirty="0"/>
          </a:p>
          <a:p>
            <a:pPr marL="358775" indent="-358775">
              <a:buClr>
                <a:schemeClr val="accent1"/>
              </a:buClr>
              <a:buFont typeface="Arial" panose="020B0604020202020204" pitchFamily="34" charset="0"/>
              <a:buChar char="☼"/>
            </a:pPr>
            <a:r>
              <a:rPr lang="ru-RU" dirty="0"/>
              <a:t>Найдите расположение файла с именем </a:t>
            </a:r>
            <a:r>
              <a:rPr lang="en-US" dirty="0" err="1"/>
              <a:t>libc</a:t>
            </a:r>
            <a:r>
              <a:rPr lang="ru-RU" dirty="0"/>
              <a:t> в каталоге </a:t>
            </a:r>
            <a:r>
              <a:rPr lang="en-US" dirty="0"/>
              <a:t>/</a:t>
            </a:r>
            <a:r>
              <a:rPr lang="en-US" dirty="0" err="1"/>
              <a:t>usr</a:t>
            </a:r>
            <a:r>
              <a:rPr lang="ru-RU" dirty="0"/>
              <a:t>.</a:t>
            </a:r>
          </a:p>
          <a:p>
            <a:pPr marL="358775" indent="-358775">
              <a:buClr>
                <a:srgbClr val="FF0000"/>
              </a:buClr>
              <a:buFont typeface="Arial" panose="020B0604020202020204" pitchFamily="34" charset="0"/>
              <a:buChar char="☼"/>
            </a:pPr>
            <a:r>
              <a:rPr lang="ru-RU" dirty="0"/>
              <a:t>Отыщите все файлы в каталоге </a:t>
            </a:r>
            <a:r>
              <a:rPr lang="en-US" dirty="0"/>
              <a:t>/</a:t>
            </a:r>
            <a:r>
              <a:rPr lang="en-US" dirty="0" err="1"/>
              <a:t>etc</a:t>
            </a:r>
            <a:r>
              <a:rPr lang="en-US" dirty="0"/>
              <a:t>/</a:t>
            </a:r>
            <a:r>
              <a:rPr lang="ru-RU" dirty="0"/>
              <a:t>, но не в его подкаталогах, не являющиеся каталогами и не имеющие расширения.</a:t>
            </a:r>
          </a:p>
          <a:p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B3A394A-BA1A-9D5A-C3E4-3E1C5F6059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Практика №2</a:t>
            </a:r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CF65AC1-CFCB-452B-83DE-96AECF67A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ru-RU"/>
              <a:t>№ </a:t>
            </a:r>
            <a:fld id="{C2001F1C-8CC0-448F-B9F6-3DE357E128D5}" type="slidenum">
              <a:rPr lang="ru-RU" smtClean="0"/>
              <a:pPr/>
              <a:t>30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5835927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C6F6B72-783F-6A88-F7CE-5CA46CA75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Подстановочный шаблон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4139024-A5FE-94EC-94F2-9369DD694B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87000"/>
              </a:lnSpc>
            </a:pPr>
            <a:r>
              <a:rPr lang="ru-RU" dirty="0"/>
              <a:t>В некоторых случаях может полезным использовать некоторую обобщенную команду для взаимодействия сразу со всеми файлами из каталога, удовлетворяющими некоторому формату.</a:t>
            </a:r>
          </a:p>
          <a:p>
            <a:pPr>
              <a:lnSpc>
                <a:spcPct val="87000"/>
              </a:lnSpc>
            </a:pPr>
            <a:r>
              <a:rPr lang="ru-RU" spc="-60" dirty="0"/>
              <a:t>Для таких случаев </a:t>
            </a:r>
            <a:r>
              <a:rPr lang="en-US" spc="-60" dirty="0"/>
              <a:t>Bash</a:t>
            </a:r>
            <a:r>
              <a:rPr lang="ru-RU" spc="-60" dirty="0"/>
              <a:t> предоставляет </a:t>
            </a:r>
            <a:r>
              <a:rPr lang="ru-RU" i="1" spc="-60" dirty="0"/>
              <a:t>подстановочный шаблон</a:t>
            </a:r>
            <a:r>
              <a:rPr lang="ru-RU" spc="-60" dirty="0"/>
              <a:t> — символ </a:t>
            </a:r>
            <a:r>
              <a:rPr lang="ru-RU" dirty="0"/>
              <a:t>звездочки *, вместо которого может быть произвольный набор символов. Данный шаблон на этапе обработки команды раскрывается в отдельные аргументы. Например, чтобы прочитать все файлы с расширением </a:t>
            </a:r>
            <a:r>
              <a:rPr lang="en-US" dirty="0"/>
              <a:t>.txt</a:t>
            </a:r>
            <a:r>
              <a:rPr lang="ru-RU" dirty="0"/>
              <a:t> из каталога </a:t>
            </a:r>
            <a:r>
              <a:rPr lang="en-US" b="1" dirty="0"/>
              <a:t>/home/user/</a:t>
            </a:r>
            <a:r>
              <a:rPr lang="ru-RU" dirty="0"/>
              <a:t>, можно воспользоваться записью</a:t>
            </a:r>
          </a:p>
          <a:p>
            <a:pPr marL="0" indent="0" algn="ctr">
              <a:lnSpc>
                <a:spcPct val="87000"/>
              </a:lnSpc>
              <a:buNone/>
            </a:pPr>
            <a:r>
              <a:rPr lang="en-US" dirty="0">
                <a:latin typeface="Consolas" panose="020B0609020204030204" pitchFamily="49" charset="0"/>
              </a:rPr>
              <a:t>cat /home/user/*.txt</a:t>
            </a:r>
          </a:p>
          <a:p>
            <a:pPr marL="358775" indent="-358775">
              <a:lnSpc>
                <a:spcPct val="87000"/>
              </a:lnSpc>
              <a:buClr>
                <a:srgbClr val="FF0000"/>
              </a:buClr>
              <a:buFont typeface="Arial" panose="020B0604020202020204" pitchFamily="34" charset="0"/>
              <a:buChar char="☼"/>
            </a:pPr>
            <a:r>
              <a:rPr lang="ru-RU" dirty="0"/>
              <a:t>Выведете информацию обо </a:t>
            </a:r>
            <a:r>
              <a:rPr lang="ru-RU" u="sng" dirty="0"/>
              <a:t>всех папках</a:t>
            </a:r>
            <a:r>
              <a:rPr lang="ru-RU" dirty="0"/>
              <a:t>, оканчивающихся на </a:t>
            </a:r>
            <a:r>
              <a:rPr lang="en-US" dirty="0"/>
              <a:t>.d</a:t>
            </a:r>
            <a:r>
              <a:rPr lang="ru-RU" dirty="0"/>
              <a:t>, из </a:t>
            </a:r>
            <a:r>
              <a:rPr lang="ru-RU" u="sng" dirty="0"/>
              <a:t>всех </a:t>
            </a:r>
            <a:r>
              <a:rPr lang="ru-RU" u="sng" spc="-100" dirty="0"/>
              <a:t>каталогов</a:t>
            </a:r>
            <a:r>
              <a:rPr lang="ru-RU" spc="-100" dirty="0"/>
              <a:t> внутри каталога </a:t>
            </a:r>
            <a:r>
              <a:rPr lang="en-US" spc="-100" dirty="0">
                <a:latin typeface="Consolas" panose="020B0609020204030204" pitchFamily="49" charset="0"/>
              </a:rPr>
              <a:t>/</a:t>
            </a:r>
            <a:r>
              <a:rPr lang="en-US" spc="-100" dirty="0" err="1">
                <a:latin typeface="Consolas" panose="020B0609020204030204" pitchFamily="49" charset="0"/>
              </a:rPr>
              <a:t>etc</a:t>
            </a:r>
            <a:r>
              <a:rPr lang="ru-RU" spc="-100" dirty="0"/>
              <a:t>.</a:t>
            </a:r>
            <a:r>
              <a:rPr lang="en-US" spc="-100" dirty="0"/>
              <a:t> </a:t>
            </a:r>
            <a:r>
              <a:rPr lang="ru-RU" spc="-100" dirty="0"/>
              <a:t>Ограничьте вывод только самими каталогами.</a:t>
            </a: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26E18325-905E-F7EC-3D0E-237E8131D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Практика №2</a:t>
            </a:r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7D94288-EEED-F77B-F85A-B74FAA670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ru-RU"/>
              <a:t>№ </a:t>
            </a:r>
            <a:fld id="{C2001F1C-8CC0-448F-B9F6-3DE357E128D5}" type="slidenum">
              <a:rPr lang="ru-RU" smtClean="0"/>
              <a:pPr/>
              <a:t>31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7279526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B2469F-52AB-6F87-5963-170DB15B1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Просмотр больший файлов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C0E41AD-9642-19AD-0A0B-35AF8E21BE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Так как терминал ограничен размером экрана, то при чтении информации из большого файла она может не поместиться на экран, и при использовании </a:t>
            </a:r>
            <a:r>
              <a:rPr lang="en-US" dirty="0"/>
              <a:t>cat </a:t>
            </a:r>
            <a:r>
              <a:rPr lang="ru-RU" dirty="0"/>
              <a:t>начало файла будет недоступно.</a:t>
            </a:r>
          </a:p>
          <a:p>
            <a:r>
              <a:rPr lang="ru-RU" dirty="0"/>
              <a:t>Для того, чтобы можно было просматривать большие файлы, в </a:t>
            </a:r>
            <a:r>
              <a:rPr lang="en-US" dirty="0"/>
              <a:t>Bash </a:t>
            </a:r>
            <a:r>
              <a:rPr lang="ru-RU" dirty="0"/>
              <a:t>существует специальная утилита </a:t>
            </a:r>
            <a:r>
              <a:rPr lang="en-US" dirty="0"/>
              <a:t>less</a:t>
            </a:r>
            <a:r>
              <a:rPr lang="ru-RU" dirty="0"/>
              <a:t>, которая позволяет просматривать большие файлы, расположенные по </a:t>
            </a:r>
            <a:r>
              <a:rPr lang="ru-RU" i="1" dirty="0"/>
              <a:t>пути</a:t>
            </a:r>
            <a:r>
              <a:rPr lang="ru-RU" dirty="0"/>
              <a:t>:</a:t>
            </a:r>
          </a:p>
          <a:p>
            <a:pPr marL="0" indent="0" algn="ctr">
              <a:buNone/>
            </a:pPr>
            <a:r>
              <a:rPr lang="en-US" dirty="0">
                <a:latin typeface="Consolas" panose="020B0609020204030204" pitchFamily="49" charset="0"/>
              </a:rPr>
              <a:t>less 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{</a:t>
            </a:r>
            <a:r>
              <a:rPr lang="ru-RU" dirty="0">
                <a:solidFill>
                  <a:schemeClr val="accent1"/>
                </a:solidFill>
                <a:latin typeface="Consolas" panose="020B0609020204030204" pitchFamily="49" charset="0"/>
              </a:rPr>
              <a:t>путь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}</a:t>
            </a:r>
            <a:endParaRPr lang="ru-RU" dirty="0">
              <a:solidFill>
                <a:schemeClr val="accent1"/>
              </a:solidFill>
              <a:latin typeface="Consolas" panose="020B0609020204030204" pitchFamily="49" charset="0"/>
            </a:endParaRPr>
          </a:p>
          <a:p>
            <a:r>
              <a:rPr lang="ru-RU" dirty="0"/>
              <a:t>Просмотр осуществляется стрелками и клавишами </a:t>
            </a:r>
            <a:r>
              <a:rPr lang="en-US" dirty="0"/>
              <a:t>Home/End</a:t>
            </a:r>
            <a:r>
              <a:rPr lang="ru-RU" dirty="0"/>
              <a:t> и</a:t>
            </a:r>
            <a:br>
              <a:rPr lang="ru-RU" dirty="0"/>
            </a:br>
            <a:r>
              <a:rPr lang="en-US" dirty="0"/>
              <a:t>Page Up/Page Down</a:t>
            </a:r>
            <a:r>
              <a:rPr lang="ru-RU" dirty="0"/>
              <a:t>.</a:t>
            </a:r>
          </a:p>
          <a:p>
            <a:pPr marL="358775" indent="-358775">
              <a:buClr>
                <a:srgbClr val="0070C0"/>
              </a:buClr>
              <a:buFont typeface="Arial" panose="020B0604020202020204" pitchFamily="34" charset="0"/>
              <a:buChar char="☼"/>
            </a:pPr>
            <a:r>
              <a:rPr lang="ru-RU" dirty="0"/>
              <a:t>Просмотрите файл </a:t>
            </a:r>
            <a:r>
              <a:rPr lang="en-US" dirty="0">
                <a:latin typeface="Consolas" panose="020B0609020204030204" pitchFamily="49" charset="0"/>
              </a:rPr>
              <a:t>/</a:t>
            </a:r>
            <a:r>
              <a:rPr lang="en-US" dirty="0" err="1">
                <a:latin typeface="Consolas" panose="020B0609020204030204" pitchFamily="49" charset="0"/>
              </a:rPr>
              <a:t>usr</a:t>
            </a:r>
            <a:r>
              <a:rPr lang="en-US" dirty="0">
                <a:latin typeface="Consolas" panose="020B0609020204030204" pitchFamily="49" charset="0"/>
              </a:rPr>
              <a:t>/include/</a:t>
            </a:r>
            <a:r>
              <a:rPr lang="en-US" dirty="0" err="1">
                <a:latin typeface="Consolas" panose="020B0609020204030204" pitchFamily="49" charset="0"/>
              </a:rPr>
              <a:t>stdint.h</a:t>
            </a:r>
            <a:r>
              <a:rPr lang="ru-RU" dirty="0"/>
              <a:t>.</a:t>
            </a: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02A7AAEC-D7CC-08FE-B436-299CE8DAF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Практика №2</a:t>
            </a:r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DD2C774-F14D-0F90-D013-5F7942B8F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ru-RU"/>
              <a:t>№ </a:t>
            </a:r>
            <a:fld id="{C2001F1C-8CC0-448F-B9F6-3DE357E128D5}" type="slidenum">
              <a:rPr lang="ru-RU" smtClean="0"/>
              <a:pPr/>
              <a:t>32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7671912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376F7D96-DBF4-8E12-E368-083E8CE5D4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5200" dirty="0"/>
              <a:t>Взаимодействие с файлами и каталогами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A89FE668-3F37-4C69-9C16-C6FB84FEBA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Создание и удаление файлов и каталогов</a:t>
            </a: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A2C5445-E73F-9853-8F30-ECEA94E265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Практика №2</a:t>
            </a:r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BB0D004-A021-DCDC-13D2-4420015F9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ru-RU"/>
              <a:t>№ </a:t>
            </a:r>
            <a:fld id="{C2001F1C-8CC0-448F-B9F6-3DE357E128D5}" type="slidenum">
              <a:rPr lang="ru-RU" smtClean="0"/>
              <a:pPr/>
              <a:t>33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9600462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3A37E2-1ED4-7495-71DA-2D6A40B457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Создание каталогов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D3CDD72-CE70-D2F4-7041-518AAFACCE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Для создания каталога, расположенного по </a:t>
            </a:r>
            <a:r>
              <a:rPr lang="ru-RU" i="1" dirty="0"/>
              <a:t>пути</a:t>
            </a:r>
            <a:r>
              <a:rPr lang="ru-RU" dirty="0"/>
              <a:t>, используется команда</a:t>
            </a:r>
            <a:endParaRPr lang="en-US" dirty="0"/>
          </a:p>
          <a:p>
            <a:pPr marL="0" indent="0" algn="ctr">
              <a:buNone/>
            </a:pPr>
            <a:r>
              <a:rPr lang="en-US" dirty="0" err="1">
                <a:latin typeface="Consolas" panose="020B0609020204030204" pitchFamily="49" charset="0"/>
              </a:rPr>
              <a:t>mkdir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{</a:t>
            </a:r>
            <a:r>
              <a:rPr lang="ru-RU" dirty="0">
                <a:solidFill>
                  <a:schemeClr val="accent1"/>
                </a:solidFill>
                <a:latin typeface="Consolas" panose="020B0609020204030204" pitchFamily="49" charset="0"/>
              </a:rPr>
              <a:t>путь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}</a:t>
            </a:r>
            <a:r>
              <a:rPr lang="ru-RU" dirty="0">
                <a:solidFill>
                  <a:schemeClr val="accent1"/>
                </a:solidFill>
                <a:latin typeface="Consolas" panose="020B0609020204030204" pitchFamily="49" charset="0"/>
              </a:rPr>
              <a:t>…</a:t>
            </a:r>
            <a:endParaRPr lang="en-US" dirty="0">
              <a:solidFill>
                <a:schemeClr val="accent1"/>
              </a:solidFill>
              <a:latin typeface="Consolas" panose="020B0609020204030204" pitchFamily="49" charset="0"/>
            </a:endParaRPr>
          </a:p>
          <a:p>
            <a:pPr marL="173038" indent="0">
              <a:buNone/>
            </a:pPr>
            <a:r>
              <a:rPr lang="ru-RU" dirty="0"/>
              <a:t>что означает </a:t>
            </a:r>
            <a:r>
              <a:rPr lang="en-US" i="1" dirty="0"/>
              <a:t>make directory</a:t>
            </a:r>
            <a:r>
              <a:rPr lang="en-US" dirty="0"/>
              <a:t>.</a:t>
            </a:r>
            <a:endParaRPr lang="ru-RU" dirty="0"/>
          </a:p>
          <a:p>
            <a:r>
              <a:rPr lang="ru-RU" dirty="0"/>
              <a:t>Заметьте, что команда позволяет создавать сразу несколько каталогов, пути к которым перечисляются через пробел.</a:t>
            </a:r>
          </a:p>
          <a:p>
            <a:pPr marL="358775" indent="-358775">
              <a:buClr>
                <a:schemeClr val="accent1"/>
              </a:buClr>
              <a:buFont typeface="Arial" panose="020B0604020202020204" pitchFamily="34" charset="0"/>
              <a:buChar char="☼"/>
            </a:pPr>
            <a:r>
              <a:rPr lang="ru-RU" dirty="0"/>
              <a:t>Создайте папку </a:t>
            </a:r>
            <a:r>
              <a:rPr lang="en-US" dirty="0"/>
              <a:t>test </a:t>
            </a:r>
            <a:r>
              <a:rPr lang="ru-RU" dirty="0"/>
              <a:t>в домашней директории. Можете использовать </a:t>
            </a:r>
            <a:r>
              <a:rPr lang="en-US" dirty="0"/>
              <a:t>cd</a:t>
            </a:r>
            <a:r>
              <a:rPr lang="ru-RU" dirty="0"/>
              <a:t>.</a:t>
            </a:r>
          </a:p>
          <a:p>
            <a:pPr marL="358775" indent="-358775">
              <a:buClr>
                <a:schemeClr val="accent1"/>
              </a:buClr>
              <a:buFont typeface="Arial" panose="020B0604020202020204" pitchFamily="34" charset="0"/>
              <a:buChar char="☼"/>
            </a:pPr>
            <a:r>
              <a:rPr lang="ru-RU" dirty="0"/>
              <a:t>Создайте несколько каталогов с именами </a:t>
            </a:r>
            <a:r>
              <a:rPr lang="en-US" dirty="0"/>
              <a:t>dir1, dir2, dir3</a:t>
            </a:r>
            <a:r>
              <a:rPr lang="ru-RU" dirty="0"/>
              <a:t> в каталоге </a:t>
            </a:r>
            <a:r>
              <a:rPr lang="en-US" dirty="0"/>
              <a:t>test</a:t>
            </a:r>
            <a:r>
              <a:rPr lang="ru-RU" dirty="0"/>
              <a:t>.</a:t>
            </a:r>
          </a:p>
          <a:p>
            <a:pPr marL="358775" indent="-358775">
              <a:buClr>
                <a:srgbClr val="FF0000"/>
              </a:buClr>
              <a:buFont typeface="Arial" panose="020B0604020202020204" pitchFamily="34" charset="0"/>
              <a:buChar char="☼"/>
            </a:pPr>
            <a:r>
              <a:rPr lang="ru-RU" dirty="0"/>
              <a:t>Попробуйте создать каталог </a:t>
            </a:r>
            <a:r>
              <a:rPr lang="en-US" dirty="0">
                <a:latin typeface="Consolas" panose="020B0609020204030204" pitchFamily="49" charset="0"/>
              </a:rPr>
              <a:t>/</a:t>
            </a:r>
            <a:r>
              <a:rPr lang="en-US" dirty="0" err="1">
                <a:latin typeface="Consolas" panose="020B0609020204030204" pitchFamily="49" charset="0"/>
              </a:rPr>
              <a:t>tmp</a:t>
            </a:r>
            <a:r>
              <a:rPr lang="en-US" dirty="0">
                <a:latin typeface="Consolas" panose="020B0609020204030204" pitchFamily="49" charset="0"/>
              </a:rPr>
              <a:t>/dir1/dir2/dir3</a:t>
            </a:r>
            <a:r>
              <a:rPr lang="ru-RU" dirty="0"/>
              <a:t> за одну команду.</a:t>
            </a: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0A0BC208-9437-D49F-28EF-E544CB6518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Практика №2</a:t>
            </a:r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EA70F67-B096-F724-7DB0-0C53F4BA9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ru-RU"/>
              <a:t>№ </a:t>
            </a:r>
            <a:fld id="{C2001F1C-8CC0-448F-B9F6-3DE357E128D5}" type="slidenum">
              <a:rPr lang="ru-RU" smtClean="0"/>
              <a:pPr/>
              <a:t>34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77839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FF8319-72C8-B94E-37DD-E61963339C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Создание файлов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248550A-1B55-438A-FF96-FB219E195D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Для создания пустого файла с определенным </a:t>
            </a:r>
            <a:r>
              <a:rPr lang="ru-RU" i="1" dirty="0"/>
              <a:t>именем</a:t>
            </a:r>
            <a:r>
              <a:rPr lang="ru-RU" dirty="0"/>
              <a:t> можно воспользоваться командой</a:t>
            </a:r>
          </a:p>
          <a:p>
            <a:pPr marL="0" indent="0" algn="ctr">
              <a:buNone/>
            </a:pPr>
            <a:r>
              <a:rPr lang="en-US" dirty="0">
                <a:latin typeface="Consolas" panose="020B0609020204030204" pitchFamily="49" charset="0"/>
              </a:rPr>
              <a:t>touch 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{</a:t>
            </a:r>
            <a:r>
              <a:rPr lang="ru-RU" dirty="0">
                <a:solidFill>
                  <a:schemeClr val="accent1"/>
                </a:solidFill>
                <a:latin typeface="Consolas" panose="020B0609020204030204" pitchFamily="49" charset="0"/>
              </a:rPr>
              <a:t>имя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}</a:t>
            </a:r>
            <a:r>
              <a:rPr lang="ru-RU" dirty="0">
                <a:solidFill>
                  <a:schemeClr val="accent1"/>
                </a:solidFill>
                <a:latin typeface="Consolas" panose="020B0609020204030204" pitchFamily="49" charset="0"/>
              </a:rPr>
              <a:t>…</a:t>
            </a:r>
            <a:endParaRPr lang="en-US" dirty="0">
              <a:solidFill>
                <a:schemeClr val="accent1"/>
              </a:solidFill>
              <a:latin typeface="Consolas" panose="020B0609020204030204" pitchFamily="49" charset="0"/>
            </a:endParaRPr>
          </a:p>
          <a:p>
            <a:pPr marL="173038" indent="0">
              <a:buNone/>
            </a:pPr>
            <a:r>
              <a:rPr lang="ru-RU" dirty="0"/>
              <a:t>что означает </a:t>
            </a:r>
            <a:r>
              <a:rPr lang="ru-RU" i="1" dirty="0"/>
              <a:t>прикоснуться </a:t>
            </a:r>
            <a:r>
              <a:rPr lang="ru-RU" dirty="0"/>
              <a:t>за счет основного предназначения данной команды — изменение временных характеристик файла (обновление времени модификации или времени последнего доступа).</a:t>
            </a:r>
          </a:p>
          <a:p>
            <a:pPr marL="358775" indent="-358775">
              <a:buClr>
                <a:schemeClr val="accent1"/>
              </a:buClr>
              <a:buFont typeface="Arial" panose="020B0604020202020204" pitchFamily="34" charset="0"/>
              <a:buChar char="☼"/>
            </a:pPr>
            <a:r>
              <a:rPr lang="ru-RU" dirty="0"/>
              <a:t>Создайте несколько пустых файлов в домашней папке.</a:t>
            </a: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6EDD596-5006-5A0A-AC84-33B7A8E89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Практика №2</a:t>
            </a:r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29FD698-F6FB-1565-9E92-74942A422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ru-RU"/>
              <a:t>№ </a:t>
            </a:r>
            <a:fld id="{C2001F1C-8CC0-448F-B9F6-3DE357E128D5}" type="slidenum">
              <a:rPr lang="ru-RU" smtClean="0"/>
              <a:pPr/>
              <a:t>35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4852991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707BB8-7678-DA05-64D7-CF4591268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Копирование и перемещение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0082B75-57EB-05A2-0564-ED3F700BBD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Для копирования или перемещения файла из одного расположения в другое используются команды</a:t>
            </a:r>
          </a:p>
          <a:p>
            <a:pPr marL="0" indent="0" algn="ctr">
              <a:buNone/>
            </a:pPr>
            <a:r>
              <a:rPr lang="en-US" dirty="0">
                <a:latin typeface="Consolas" panose="020B0609020204030204" pitchFamily="49" charset="0"/>
              </a:rPr>
              <a:t>cp 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{</a:t>
            </a:r>
            <a:r>
              <a:rPr lang="ru-RU" dirty="0">
                <a:solidFill>
                  <a:schemeClr val="accent1"/>
                </a:solidFill>
                <a:latin typeface="Consolas" panose="020B0609020204030204" pitchFamily="49" charset="0"/>
              </a:rPr>
              <a:t>расположение1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}</a:t>
            </a:r>
            <a:r>
              <a:rPr lang="ru-RU" dirty="0">
                <a:solidFill>
                  <a:schemeClr val="accent1"/>
                </a:solidFill>
                <a:latin typeface="Consolas" panose="020B0609020204030204" pitchFamily="49" charset="0"/>
              </a:rPr>
              <a:t>…</a:t>
            </a:r>
            <a:r>
              <a:rPr lang="ru-RU" dirty="0"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chemeClr val="accent6"/>
                </a:solidFill>
                <a:latin typeface="Consolas" panose="020B0609020204030204" pitchFamily="49" charset="0"/>
              </a:rPr>
              <a:t>{</a:t>
            </a:r>
            <a:r>
              <a:rPr lang="ru-RU" dirty="0">
                <a:solidFill>
                  <a:schemeClr val="accent6"/>
                </a:solidFill>
                <a:latin typeface="Consolas" panose="020B0609020204030204" pitchFamily="49" charset="0"/>
              </a:rPr>
              <a:t>расположение2</a:t>
            </a:r>
            <a:r>
              <a:rPr lang="en-US" dirty="0">
                <a:solidFill>
                  <a:schemeClr val="accent6"/>
                </a:solidFill>
                <a:latin typeface="Consolas" panose="020B0609020204030204" pitchFamily="49" charset="0"/>
              </a:rPr>
              <a:t>}</a:t>
            </a:r>
          </a:p>
          <a:p>
            <a:pPr marL="0" indent="0" algn="ctr">
              <a:buNone/>
            </a:pPr>
            <a:r>
              <a:rPr lang="en-US" dirty="0">
                <a:latin typeface="Consolas" panose="020B0609020204030204" pitchFamily="49" charset="0"/>
              </a:rPr>
              <a:t>mv 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{</a:t>
            </a:r>
            <a:r>
              <a:rPr lang="ru-RU" dirty="0">
                <a:solidFill>
                  <a:schemeClr val="accent1"/>
                </a:solidFill>
                <a:latin typeface="Consolas" panose="020B0609020204030204" pitchFamily="49" charset="0"/>
              </a:rPr>
              <a:t>расположение1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}</a:t>
            </a:r>
            <a:r>
              <a:rPr lang="ru-RU" dirty="0">
                <a:solidFill>
                  <a:schemeClr val="accent1"/>
                </a:solidFill>
                <a:latin typeface="Consolas" panose="020B0609020204030204" pitchFamily="49" charset="0"/>
              </a:rPr>
              <a:t>… </a:t>
            </a:r>
            <a:r>
              <a:rPr lang="en-US" dirty="0">
                <a:solidFill>
                  <a:schemeClr val="accent6"/>
                </a:solidFill>
                <a:latin typeface="Consolas" panose="020B0609020204030204" pitchFamily="49" charset="0"/>
              </a:rPr>
              <a:t>{</a:t>
            </a:r>
            <a:r>
              <a:rPr lang="ru-RU" dirty="0">
                <a:solidFill>
                  <a:schemeClr val="accent6"/>
                </a:solidFill>
                <a:latin typeface="Consolas" panose="020B0609020204030204" pitchFamily="49" charset="0"/>
              </a:rPr>
              <a:t>расположение2</a:t>
            </a:r>
            <a:r>
              <a:rPr lang="en-US" dirty="0">
                <a:solidFill>
                  <a:schemeClr val="accent6"/>
                </a:solidFill>
                <a:latin typeface="Consolas" panose="020B0609020204030204" pitchFamily="49" charset="0"/>
              </a:rPr>
              <a:t>}</a:t>
            </a:r>
            <a:endParaRPr lang="ru-RU" dirty="0">
              <a:solidFill>
                <a:schemeClr val="accent6"/>
              </a:solidFill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ru-RU" dirty="0"/>
              <a:t>что означает </a:t>
            </a:r>
            <a:r>
              <a:rPr lang="en-US" i="1" dirty="0"/>
              <a:t>copy</a:t>
            </a:r>
            <a:r>
              <a:rPr lang="en-US" dirty="0"/>
              <a:t> </a:t>
            </a:r>
            <a:r>
              <a:rPr lang="ru-RU" dirty="0"/>
              <a:t>и </a:t>
            </a:r>
            <a:r>
              <a:rPr lang="en-US" i="1" dirty="0"/>
              <a:t>move</a:t>
            </a:r>
            <a:r>
              <a:rPr lang="ru-RU" dirty="0"/>
              <a:t>,</a:t>
            </a:r>
            <a:r>
              <a:rPr lang="en-US" dirty="0"/>
              <a:t> </a:t>
            </a:r>
            <a:r>
              <a:rPr lang="ru-RU" dirty="0"/>
              <a:t>соответственно.</a:t>
            </a:r>
            <a:endParaRPr lang="en-US" dirty="0"/>
          </a:p>
          <a:p>
            <a:pPr>
              <a:buClr>
                <a:srgbClr val="FF0000"/>
              </a:buClr>
              <a:buFont typeface="Times New Roman" panose="02020603050405020304" pitchFamily="18" charset="0"/>
              <a:buChar char="⁕"/>
            </a:pPr>
            <a:r>
              <a:rPr lang="ru-RU" dirty="0"/>
              <a:t>При копировании</a:t>
            </a:r>
            <a:r>
              <a:rPr lang="en-US" dirty="0"/>
              <a:t>/</a:t>
            </a:r>
            <a:r>
              <a:rPr lang="ru-RU" dirty="0"/>
              <a:t>перемещении множества файлов расположение должно представлять собой каталог.</a:t>
            </a:r>
          </a:p>
          <a:p>
            <a:pPr>
              <a:buClr>
                <a:srgbClr val="FF0000"/>
              </a:buClr>
              <a:buFont typeface="Times New Roman" panose="02020603050405020304" pitchFamily="18" charset="0"/>
              <a:buChar char="⁕"/>
            </a:pPr>
            <a:r>
              <a:rPr lang="ru-RU" dirty="0"/>
              <a:t>При копировании</a:t>
            </a:r>
            <a:r>
              <a:rPr lang="en-US" dirty="0"/>
              <a:t>/</a:t>
            </a:r>
            <a:r>
              <a:rPr lang="ru-RU" dirty="0"/>
              <a:t>перемещении единичного файла допустимо изменять его имя путем указания нового имени во втором расположении.</a:t>
            </a: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8AB3997-F6D2-5501-DE17-3524E3200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Практика №2</a:t>
            </a:r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36732E3-1214-112F-304D-33317B259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ru-RU"/>
              <a:t>№ </a:t>
            </a:r>
            <a:fld id="{C2001F1C-8CC0-448F-B9F6-3DE357E128D5}" type="slidenum">
              <a:rPr lang="ru-RU" smtClean="0"/>
              <a:pPr/>
              <a:t>36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4337949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E02D3F-9F5D-7D41-2E03-DCB620B02F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412C820-8403-9AE3-35BC-4D8639874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Копирование и перемещение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AD5C680-706A-D317-D426-C0814C0C1B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rgbClr val="FF0000"/>
              </a:buClr>
              <a:buFont typeface="Times New Roman" panose="02020603050405020304" pitchFamily="18" charset="0"/>
              <a:buChar char="⁕"/>
            </a:pPr>
            <a:r>
              <a:rPr lang="ru-RU" dirty="0"/>
              <a:t>Следствие из предыдущего пояснения: переименование представляет собой частный случай перемещения единичного файла с другим именем в то же самое место.</a:t>
            </a:r>
          </a:p>
          <a:p>
            <a:r>
              <a:rPr lang="ru-RU" dirty="0"/>
              <a:t>Пример:</a:t>
            </a:r>
          </a:p>
          <a:p>
            <a:pPr marL="0" indent="0" algn="ctr">
              <a:buNone/>
            </a:pPr>
            <a:r>
              <a:rPr lang="en-US" dirty="0">
                <a:latin typeface="Consolas" panose="020B0609020204030204" pitchFamily="49" charset="0"/>
              </a:rPr>
              <a:t>mv text.txt newtext.txt</a:t>
            </a:r>
            <a:endParaRPr lang="ru-RU" dirty="0">
              <a:latin typeface="Consolas" panose="020B0609020204030204" pitchFamily="49" charset="0"/>
            </a:endParaRPr>
          </a:p>
          <a:p>
            <a:pPr marL="173038" indent="0">
              <a:buNone/>
            </a:pPr>
            <a:r>
              <a:rPr lang="ru-RU" dirty="0"/>
              <a:t>осуществит переименование файла </a:t>
            </a:r>
            <a:r>
              <a:rPr lang="en-US" dirty="0"/>
              <a:t>text.txt </a:t>
            </a:r>
            <a:r>
              <a:rPr lang="ru-RU" dirty="0"/>
              <a:t>в </a:t>
            </a:r>
            <a:r>
              <a:rPr lang="en-US" dirty="0"/>
              <a:t>newtext.txt</a:t>
            </a:r>
            <a:r>
              <a:rPr lang="ru-RU" dirty="0"/>
              <a:t>.</a:t>
            </a:r>
          </a:p>
          <a:p>
            <a:pPr marL="358775" indent="-358775">
              <a:buClr>
                <a:schemeClr val="accent1"/>
              </a:buClr>
              <a:buFont typeface="Arial" panose="020B0604020202020204" pitchFamily="34" charset="0"/>
              <a:buChar char="☼"/>
            </a:pPr>
            <a:r>
              <a:rPr lang="ru-RU" dirty="0"/>
              <a:t>Скопируйте созданные в предыдущем задании файлы в папку </a:t>
            </a:r>
            <a:r>
              <a:rPr lang="en-US" dirty="0"/>
              <a:t>test</a:t>
            </a:r>
            <a:r>
              <a:rPr lang="ru-RU" dirty="0"/>
              <a:t>.</a:t>
            </a:r>
          </a:p>
          <a:p>
            <a:pPr marL="358775" indent="-358775">
              <a:buClr>
                <a:schemeClr val="accent1"/>
              </a:buClr>
              <a:buFont typeface="Arial" panose="020B0604020202020204" pitchFamily="34" charset="0"/>
              <a:buChar char="☼"/>
            </a:pPr>
            <a:r>
              <a:rPr lang="ru-RU" dirty="0"/>
              <a:t>Переместите один из файлов в папку </a:t>
            </a:r>
            <a:r>
              <a:rPr lang="en-US" dirty="0"/>
              <a:t>test/dir1</a:t>
            </a:r>
            <a:r>
              <a:rPr lang="ru-RU" dirty="0"/>
              <a:t>.</a:t>
            </a:r>
          </a:p>
          <a:p>
            <a:pPr marL="358775" indent="-358775">
              <a:buClr>
                <a:schemeClr val="accent1"/>
              </a:buClr>
              <a:buFont typeface="Arial" panose="020B0604020202020204" pitchFamily="34" charset="0"/>
              <a:buChar char="☼"/>
            </a:pPr>
            <a:r>
              <a:rPr lang="ru-RU" dirty="0"/>
              <a:t>Переименуйте любой файл.</a:t>
            </a: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F244CBA-5B26-97F5-2669-8472CFB2AC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Практика №2</a:t>
            </a:r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5FAE8B9-50A2-934A-86E6-0BC147D71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ru-RU"/>
              <a:t>№ </a:t>
            </a:r>
            <a:fld id="{C2001F1C-8CC0-448F-B9F6-3DE357E128D5}" type="slidenum">
              <a:rPr lang="ru-RU" smtClean="0"/>
              <a:pPr/>
              <a:t>37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6283546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0197B5-B309-3DDE-A088-357CB48C68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2B5D9D-3D1C-CEB4-694C-E73BBF50A4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Удаление каталогов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8CE4C1C-9F65-E619-AE74-9D1FC45CA7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По аналогии с созданием каталогов, для удаления каталогов используется команда</a:t>
            </a:r>
          </a:p>
          <a:p>
            <a:pPr marL="0" indent="0" algn="ctr">
              <a:buNone/>
            </a:pPr>
            <a:r>
              <a:rPr lang="en-US" dirty="0" err="1">
                <a:latin typeface="Consolas" panose="020B0609020204030204" pitchFamily="49" charset="0"/>
              </a:rPr>
              <a:t>rmdir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{</a:t>
            </a:r>
            <a:r>
              <a:rPr lang="ru-RU" dirty="0">
                <a:solidFill>
                  <a:schemeClr val="accent1"/>
                </a:solidFill>
                <a:latin typeface="Consolas" panose="020B0609020204030204" pitchFamily="49" charset="0"/>
              </a:rPr>
              <a:t>путь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}…</a:t>
            </a:r>
          </a:p>
          <a:p>
            <a:pPr marL="0" indent="0">
              <a:buNone/>
            </a:pPr>
            <a:r>
              <a:rPr lang="ru-RU" dirty="0"/>
              <a:t>что означает </a:t>
            </a:r>
            <a:r>
              <a:rPr lang="en-US" i="1" dirty="0"/>
              <a:t>remove directory</a:t>
            </a:r>
            <a:r>
              <a:rPr lang="en-US" dirty="0"/>
              <a:t>.</a:t>
            </a:r>
            <a:endParaRPr lang="ru-RU" dirty="0"/>
          </a:p>
          <a:p>
            <a:pPr marL="358775" indent="-358775">
              <a:buClr>
                <a:schemeClr val="accent1"/>
              </a:buClr>
              <a:buFont typeface="Arial" panose="020B0604020202020204" pitchFamily="34" charset="0"/>
              <a:buChar char="☼"/>
            </a:pPr>
            <a:r>
              <a:rPr lang="ru-RU" dirty="0"/>
              <a:t>Удалите каталог </a:t>
            </a:r>
            <a:r>
              <a:rPr lang="en-US" dirty="0"/>
              <a:t>dir3</a:t>
            </a:r>
            <a:r>
              <a:rPr lang="ru-RU" dirty="0"/>
              <a:t>.</a:t>
            </a:r>
          </a:p>
          <a:p>
            <a:pPr marL="358775" indent="-358775">
              <a:buClr>
                <a:schemeClr val="accent1"/>
              </a:buClr>
              <a:buFont typeface="Arial" panose="020B0604020202020204" pitchFamily="34" charset="0"/>
              <a:buChar char="☼"/>
            </a:pPr>
            <a:r>
              <a:rPr lang="ru-RU" dirty="0"/>
              <a:t>Попробуйте удалить каталог </a:t>
            </a:r>
            <a:r>
              <a:rPr lang="en-US" dirty="0"/>
              <a:t>dir1</a:t>
            </a:r>
            <a:r>
              <a:rPr lang="ru-RU" dirty="0"/>
              <a:t>. Что произошло?</a:t>
            </a:r>
          </a:p>
          <a:p>
            <a:pPr marL="358775" indent="-358775">
              <a:buClr>
                <a:schemeClr val="accent1"/>
              </a:buClr>
              <a:buFont typeface="Arial" panose="020B0604020202020204" pitchFamily="34" charset="0"/>
              <a:buChar char="☼"/>
            </a:pPr>
            <a:r>
              <a:rPr lang="ru-RU" dirty="0"/>
              <a:t>Аналогичным образом попробуйте удалить любой файл.</a:t>
            </a: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1DE1845A-2B41-DFF1-1F24-9F4F93CA13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Практика №2</a:t>
            </a:r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DD2F2F0-4FF7-F148-6EED-8309D0994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ru-RU"/>
              <a:t>№ </a:t>
            </a:r>
            <a:fld id="{C2001F1C-8CC0-448F-B9F6-3DE357E128D5}" type="slidenum">
              <a:rPr lang="ru-RU" smtClean="0"/>
              <a:pPr/>
              <a:t>38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541740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D400DB-FA4F-19A3-88E1-2EED784AD3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Удаление файлов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659AB3C-6E0D-C891-A561-36BE267128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Удаление файлов предполагает использование другой команды:</a:t>
            </a:r>
          </a:p>
          <a:p>
            <a:pPr marL="0" indent="0" algn="ctr">
              <a:buNone/>
            </a:pPr>
            <a:r>
              <a:rPr lang="en-US" dirty="0">
                <a:latin typeface="Consolas" panose="020B0609020204030204" pitchFamily="49" charset="0"/>
              </a:rPr>
              <a:t>rm 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{</a:t>
            </a:r>
            <a:r>
              <a:rPr lang="ru-RU" dirty="0">
                <a:solidFill>
                  <a:schemeClr val="accent1"/>
                </a:solidFill>
                <a:latin typeface="Consolas" panose="020B0609020204030204" pitchFamily="49" charset="0"/>
              </a:rPr>
              <a:t>путь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}</a:t>
            </a:r>
            <a:r>
              <a:rPr lang="ru-RU" dirty="0">
                <a:solidFill>
                  <a:schemeClr val="accent1"/>
                </a:solidFill>
                <a:latin typeface="Consolas" panose="020B0609020204030204" pitchFamily="49" charset="0"/>
              </a:rPr>
              <a:t>…</a:t>
            </a:r>
          </a:p>
          <a:p>
            <a:pPr marL="173038" indent="0">
              <a:buNone/>
            </a:pPr>
            <a:r>
              <a:rPr lang="ru-RU" dirty="0"/>
              <a:t>что означает </a:t>
            </a:r>
            <a:r>
              <a:rPr lang="en-US" i="1" dirty="0"/>
              <a:t>remove</a:t>
            </a:r>
            <a:r>
              <a:rPr lang="ru-RU" dirty="0"/>
              <a:t>.</a:t>
            </a:r>
          </a:p>
          <a:p>
            <a:pPr>
              <a:buClr>
                <a:srgbClr val="FF0000"/>
              </a:buClr>
              <a:buFont typeface="Times New Roman" panose="02020603050405020304" pitchFamily="18" charset="0"/>
              <a:buChar char="⁕"/>
            </a:pPr>
            <a:r>
              <a:rPr lang="ru-RU" dirty="0"/>
              <a:t>Данная команда также позволяет удалять целые деревья каталогов при использовании аргумента </a:t>
            </a:r>
            <a:r>
              <a:rPr lang="en-US" dirty="0">
                <a:latin typeface="Consolas" panose="020B0609020204030204" pitchFamily="49" charset="0"/>
              </a:rPr>
              <a:t>-r</a:t>
            </a:r>
            <a:r>
              <a:rPr lang="ru-RU" dirty="0"/>
              <a:t>, что означает </a:t>
            </a:r>
            <a:r>
              <a:rPr lang="en-US" i="1" dirty="0"/>
              <a:t>recursive</a:t>
            </a:r>
            <a:r>
              <a:rPr lang="en-US" dirty="0"/>
              <a:t> </a:t>
            </a:r>
            <a:r>
              <a:rPr lang="ru-RU" dirty="0"/>
              <a:t>— рекурсивное удаление.</a:t>
            </a:r>
          </a:p>
          <a:p>
            <a:pPr marL="358775" indent="-358775">
              <a:buClr>
                <a:schemeClr val="accent1"/>
              </a:buClr>
              <a:buFont typeface="Arial" panose="020B0604020202020204" pitchFamily="34" charset="0"/>
              <a:buChar char="☼"/>
            </a:pPr>
            <a:r>
              <a:rPr lang="ru-RU" dirty="0"/>
              <a:t>Теперь с помощью </a:t>
            </a:r>
            <a:r>
              <a:rPr lang="en-US" dirty="0"/>
              <a:t>rm </a:t>
            </a:r>
            <a:r>
              <a:rPr lang="ru-RU" dirty="0"/>
              <a:t>осуществите удаление любого файла.</a:t>
            </a:r>
          </a:p>
          <a:p>
            <a:pPr marL="358775" indent="-358775">
              <a:buClr>
                <a:schemeClr val="accent1"/>
              </a:buClr>
              <a:buFont typeface="Arial" panose="020B0604020202020204" pitchFamily="34" charset="0"/>
              <a:buChar char="☼"/>
            </a:pPr>
            <a:r>
              <a:rPr lang="ru-RU" dirty="0"/>
              <a:t>С помощью </a:t>
            </a:r>
            <a:r>
              <a:rPr lang="en-US" dirty="0">
                <a:latin typeface="Consolas" panose="020B0609020204030204" pitchFamily="49" charset="0"/>
              </a:rPr>
              <a:t>rm -r</a:t>
            </a:r>
            <a:r>
              <a:rPr lang="en-US" dirty="0"/>
              <a:t> </a:t>
            </a:r>
            <a:r>
              <a:rPr lang="ru-RU" dirty="0"/>
              <a:t>удалите каталог </a:t>
            </a:r>
            <a:r>
              <a:rPr lang="en-US" dirty="0"/>
              <a:t>dir1</a:t>
            </a:r>
            <a:r>
              <a:rPr lang="ru-RU" dirty="0"/>
              <a:t> со всем его содержимым.</a:t>
            </a:r>
          </a:p>
          <a:p>
            <a:pPr marL="358775" indent="-358775">
              <a:buClr>
                <a:schemeClr val="accent1"/>
              </a:buClr>
              <a:buFont typeface="Arial" panose="020B0604020202020204" pitchFamily="34" charset="0"/>
              <a:buChar char="☼"/>
            </a:pPr>
            <a:r>
              <a:rPr lang="ru-RU" dirty="0"/>
              <a:t>Осуществите удаление всего дерева каталогов, начиная с каталога </a:t>
            </a:r>
            <a:r>
              <a:rPr lang="en-US" dirty="0"/>
              <a:t>test</a:t>
            </a:r>
            <a:r>
              <a:rPr lang="ru-RU" dirty="0"/>
              <a:t>.</a:t>
            </a:r>
          </a:p>
          <a:p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221B2B96-1965-8A7C-906A-1F4BBA87B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Практика №2</a:t>
            </a:r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F4FFEBE-F5A1-34E9-72C3-A2B5ACE4E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ru-RU"/>
              <a:t>№ </a:t>
            </a:r>
            <a:fld id="{C2001F1C-8CC0-448F-B9F6-3DE357E128D5}" type="slidenum">
              <a:rPr lang="ru-RU" smtClean="0"/>
              <a:pPr/>
              <a:t>39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2247009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C96CCD3B-A9D0-DF2B-1ACD-31E754F9DD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Потоки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D8EDCDEA-42B3-16D8-6C2D-3B393CC3C9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Запись данных в файл</a:t>
            </a:r>
          </a:p>
          <a:p>
            <a:r>
              <a:rPr lang="ru-RU" dirty="0"/>
              <a:t>Перенаправление потоков</a:t>
            </a:r>
          </a:p>
          <a:p>
            <a:endParaRPr lang="ru-RU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675175C-973E-2892-B2CF-4C2673DE50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Практика №2</a:t>
            </a:r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ACBB9D9-43BA-C416-F0DB-4D28EE4F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ru-RU"/>
              <a:t>№ </a:t>
            </a:r>
            <a:fld id="{C2001F1C-8CC0-448F-B9F6-3DE357E128D5}" type="slidenum">
              <a:rPr lang="ru-RU" smtClean="0"/>
              <a:pPr/>
              <a:t>40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3872559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8AB62CD6-D122-B554-00E7-7C24FA3D2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Потоки ввода</a:t>
            </a:r>
            <a:r>
              <a:rPr lang="en-US" dirty="0"/>
              <a:t>/</a:t>
            </a:r>
            <a:r>
              <a:rPr lang="ru-RU" dirty="0"/>
              <a:t>вывода</a:t>
            </a:r>
          </a:p>
        </p:txBody>
      </p:sp>
      <p:sp>
        <p:nvSpPr>
          <p:cNvPr id="7" name="Объект 6">
            <a:extLst>
              <a:ext uri="{FF2B5EF4-FFF2-40B4-BE49-F238E27FC236}">
                <a16:creationId xmlns:a16="http://schemas.microsoft.com/office/drawing/2014/main" id="{1E77F721-C854-C476-8142-111DDA9E71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i="1" dirty="0"/>
              <a:t>Потоки</a:t>
            </a:r>
            <a:r>
              <a:rPr lang="ru-RU" dirty="0"/>
              <a:t> (англ. </a:t>
            </a:r>
            <a:r>
              <a:rPr lang="en-US" i="1" dirty="0"/>
              <a:t>stream</a:t>
            </a:r>
            <a:r>
              <a:rPr lang="ru-RU" dirty="0"/>
              <a:t>) представляют собой универсальное средство чтения и записи информации в файловых системах </a:t>
            </a:r>
            <a:r>
              <a:rPr lang="en-US" dirty="0"/>
              <a:t>Unix</a:t>
            </a:r>
            <a:r>
              <a:rPr lang="ru-RU" dirty="0"/>
              <a:t>-подобных ОС.</a:t>
            </a:r>
          </a:p>
          <a:p>
            <a:pPr>
              <a:buClr>
                <a:srgbClr val="FF0000"/>
              </a:buClr>
              <a:buFont typeface="Times New Roman" panose="02020603050405020304" pitchFamily="18" charset="0"/>
              <a:buChar char="⁕"/>
            </a:pPr>
            <a:r>
              <a:rPr lang="ru-RU" dirty="0"/>
              <a:t>При запуске любого процесса операционная система также дополнительно выделяет для него три стандартных потока с уникальными идентификаторами (файловыми дескрипторами):</a:t>
            </a:r>
          </a:p>
          <a:p>
            <a:pPr lvl="1"/>
            <a:r>
              <a:rPr lang="ru-RU" dirty="0"/>
              <a:t>Стандартный поток ввода — </a:t>
            </a:r>
            <a:r>
              <a:rPr lang="en-US" dirty="0">
                <a:latin typeface="Consolas" panose="020B0609020204030204" pitchFamily="49" charset="0"/>
              </a:rPr>
              <a:t>stdin</a:t>
            </a:r>
            <a:r>
              <a:rPr lang="ru-RU" dirty="0"/>
              <a:t>. Соответствует файловому дескриптору 0.</a:t>
            </a:r>
          </a:p>
          <a:p>
            <a:pPr lvl="1"/>
            <a:r>
              <a:rPr lang="ru-RU" dirty="0"/>
              <a:t>Стандартный поток вывода — </a:t>
            </a:r>
            <a:r>
              <a:rPr lang="en-US" dirty="0" err="1">
                <a:latin typeface="Consolas" panose="020B0609020204030204" pitchFamily="49" charset="0"/>
              </a:rPr>
              <a:t>stdout</a:t>
            </a:r>
            <a:r>
              <a:rPr lang="ru-RU" dirty="0"/>
              <a:t>. Соответствует файловому дескриптору 1.</a:t>
            </a:r>
          </a:p>
          <a:p>
            <a:pPr lvl="1"/>
            <a:r>
              <a:rPr lang="ru-RU" dirty="0"/>
              <a:t>Стандартный поток ошибок — </a:t>
            </a:r>
            <a:r>
              <a:rPr lang="en-US" dirty="0">
                <a:latin typeface="Consolas" panose="020B0609020204030204" pitchFamily="49" charset="0"/>
              </a:rPr>
              <a:t>stderr</a:t>
            </a:r>
            <a:r>
              <a:rPr lang="ru-RU" dirty="0"/>
              <a:t>. Соответствует файловому дескриптору 2.</a:t>
            </a:r>
          </a:p>
          <a:p>
            <a:pPr>
              <a:buClr>
                <a:srgbClr val="FF0000"/>
              </a:buClr>
              <a:buFont typeface="Times New Roman" panose="02020603050405020304" pitchFamily="18" charset="0"/>
              <a:buChar char="⁕"/>
            </a:pPr>
            <a:r>
              <a:rPr lang="ru-RU" u="sng" dirty="0"/>
              <a:t>По умолчанию</a:t>
            </a:r>
            <a:r>
              <a:rPr lang="ru-RU" dirty="0"/>
              <a:t>, </a:t>
            </a:r>
            <a:r>
              <a:rPr lang="en-US" dirty="0">
                <a:latin typeface="Consolas" panose="020B0609020204030204" pitchFamily="49" charset="0"/>
              </a:rPr>
              <a:t>stdin</a:t>
            </a:r>
            <a:r>
              <a:rPr lang="en-US" dirty="0"/>
              <a:t> </a:t>
            </a:r>
            <a:r>
              <a:rPr lang="ru-RU" dirty="0"/>
              <a:t>получает информацию с клавиатуры в терминале, </a:t>
            </a:r>
            <a:r>
              <a:rPr lang="en-US" dirty="0" err="1">
                <a:latin typeface="Consolas" panose="020B0609020204030204" pitchFamily="49" charset="0"/>
              </a:rPr>
              <a:t>stdout</a:t>
            </a:r>
            <a:r>
              <a:rPr lang="en-US" dirty="0"/>
              <a:t> </a:t>
            </a:r>
            <a:r>
              <a:rPr lang="ru-RU" dirty="0"/>
              <a:t>выводит информацию в терминал, </a:t>
            </a:r>
            <a:r>
              <a:rPr lang="en-US" dirty="0">
                <a:latin typeface="Consolas" panose="020B0609020204030204" pitchFamily="49" charset="0"/>
              </a:rPr>
              <a:t>stderr</a:t>
            </a:r>
            <a:r>
              <a:rPr lang="ru-RU" dirty="0"/>
              <a:t> также выводит информацию в терминал.</a:t>
            </a: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CBCDF333-5F21-3241-F4D4-01F176DE77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Практика №2</a:t>
            </a:r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1EB8823-B0BD-83A8-FA20-CD2AFAD556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ru-RU"/>
              <a:t>№ </a:t>
            </a:r>
            <a:fld id="{C2001F1C-8CC0-448F-B9F6-3DE357E128D5}" type="slidenum">
              <a:rPr lang="ru-RU" smtClean="0"/>
              <a:pPr/>
              <a:t>41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6489277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67A5375-648D-1230-B0B8-0DACD1CFC4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Перенаправление потоков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7498BED-C6CB-E2DE-5454-12CE12F927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0205" y="1529206"/>
            <a:ext cx="11761077" cy="4617216"/>
          </a:xfrm>
        </p:spPr>
        <p:txBody>
          <a:bodyPr/>
          <a:lstStyle/>
          <a:p>
            <a:pPr>
              <a:lnSpc>
                <a:spcPct val="87000"/>
              </a:lnSpc>
              <a:buClr>
                <a:srgbClr val="FF0000"/>
              </a:buClr>
              <a:buFont typeface="Times New Roman" panose="02020603050405020304" pitchFamily="18" charset="0"/>
              <a:buChar char="⁕"/>
            </a:pPr>
            <a:r>
              <a:rPr lang="ru-RU" dirty="0"/>
              <a:t>Операционная система предоставляет возможность перенаправить поток процесса в любой файл (из любого файла, если осуществляется ввод).</a:t>
            </a:r>
          </a:p>
          <a:p>
            <a:pPr>
              <a:lnSpc>
                <a:spcPct val="87000"/>
              </a:lnSpc>
            </a:pPr>
            <a:r>
              <a:rPr lang="ru-RU" dirty="0"/>
              <a:t>Для перенаправления потоков используются специальные операторы:</a:t>
            </a:r>
          </a:p>
          <a:p>
            <a:pPr marL="0" indent="0" algn="ctr">
              <a:lnSpc>
                <a:spcPct val="87000"/>
              </a:lnSpc>
              <a:buNone/>
            </a:pPr>
            <a:r>
              <a:rPr lang="en-US" dirty="0">
                <a:solidFill>
                  <a:schemeClr val="accent6"/>
                </a:solidFill>
                <a:latin typeface="Consolas" panose="020B0609020204030204" pitchFamily="49" charset="0"/>
              </a:rPr>
              <a:t>{</a:t>
            </a:r>
            <a:r>
              <a:rPr lang="ru-RU" dirty="0">
                <a:solidFill>
                  <a:schemeClr val="accent6"/>
                </a:solidFill>
                <a:latin typeface="Consolas" panose="020B0609020204030204" pitchFamily="49" charset="0"/>
              </a:rPr>
              <a:t>команда</a:t>
            </a:r>
            <a:r>
              <a:rPr lang="en-US" dirty="0">
                <a:solidFill>
                  <a:schemeClr val="accent6"/>
                </a:solidFill>
                <a:latin typeface="Consolas" panose="020B0609020204030204" pitchFamily="49" charset="0"/>
              </a:rPr>
              <a:t>} </a:t>
            </a:r>
            <a:r>
              <a:rPr lang="en-US" dirty="0">
                <a:solidFill>
                  <a:schemeClr val="accent2"/>
                </a:solidFill>
                <a:latin typeface="Consolas" panose="020B0609020204030204" pitchFamily="49" charset="0"/>
              </a:rPr>
              <a:t>[</a:t>
            </a:r>
            <a:r>
              <a:rPr lang="ru-RU" dirty="0">
                <a:solidFill>
                  <a:schemeClr val="accent2"/>
                </a:solidFill>
                <a:latin typeface="Consolas" panose="020B0609020204030204" pitchFamily="49" charset="0"/>
              </a:rPr>
              <a:t>поток</a:t>
            </a:r>
            <a:r>
              <a:rPr lang="en-US" dirty="0">
                <a:solidFill>
                  <a:schemeClr val="accent2"/>
                </a:solidFill>
                <a:latin typeface="Consolas" panose="020B0609020204030204" pitchFamily="49" charset="0"/>
              </a:rPr>
              <a:t>]</a:t>
            </a:r>
            <a:r>
              <a:rPr lang="en-US" dirty="0">
                <a:latin typeface="Consolas" panose="020B0609020204030204" pitchFamily="49" charset="0"/>
              </a:rPr>
              <a:t>&lt; 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{</a:t>
            </a:r>
            <a:r>
              <a:rPr lang="ru-RU" dirty="0">
                <a:solidFill>
                  <a:schemeClr val="accent1"/>
                </a:solidFill>
                <a:latin typeface="Consolas" panose="020B0609020204030204" pitchFamily="49" charset="0"/>
              </a:rPr>
              <a:t>файл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}</a:t>
            </a:r>
            <a:endParaRPr lang="ru-RU" dirty="0">
              <a:solidFill>
                <a:schemeClr val="accent1"/>
              </a:solidFill>
              <a:latin typeface="Consolas" panose="020B0609020204030204" pitchFamily="49" charset="0"/>
            </a:endParaRPr>
          </a:p>
          <a:p>
            <a:pPr marL="173038" indent="0">
              <a:lnSpc>
                <a:spcPct val="87000"/>
              </a:lnSpc>
              <a:buNone/>
            </a:pPr>
            <a:r>
              <a:rPr lang="ru-RU" dirty="0"/>
              <a:t>позволяет перенаправить ввод из </a:t>
            </a:r>
            <a:r>
              <a:rPr lang="ru-RU" i="1" dirty="0"/>
              <a:t>файла</a:t>
            </a:r>
            <a:r>
              <a:rPr lang="ru-RU" dirty="0"/>
              <a:t> в </a:t>
            </a:r>
            <a:r>
              <a:rPr lang="ru-RU" i="1" dirty="0"/>
              <a:t>поток команды</a:t>
            </a:r>
            <a:r>
              <a:rPr lang="ru-RU" dirty="0"/>
              <a:t>. Если поток не указан, то используется стандартный поток ввода (</a:t>
            </a:r>
            <a:r>
              <a:rPr lang="en-US" dirty="0">
                <a:latin typeface="Consolas" panose="020B0609020204030204" pitchFamily="49" charset="0"/>
              </a:rPr>
              <a:t>stdin</a:t>
            </a:r>
            <a:r>
              <a:rPr lang="ru-RU" dirty="0"/>
              <a:t>, 0).</a:t>
            </a:r>
            <a:endParaRPr lang="ru-RU" i="1" dirty="0"/>
          </a:p>
          <a:p>
            <a:pPr marL="0" indent="0" algn="ctr">
              <a:lnSpc>
                <a:spcPct val="87000"/>
              </a:lnSpc>
              <a:buNone/>
            </a:pPr>
            <a:r>
              <a:rPr lang="en-US" dirty="0">
                <a:solidFill>
                  <a:schemeClr val="accent6"/>
                </a:solidFill>
                <a:latin typeface="Consolas" panose="020B0609020204030204" pitchFamily="49" charset="0"/>
              </a:rPr>
              <a:t>{</a:t>
            </a:r>
            <a:r>
              <a:rPr lang="ru-RU" dirty="0">
                <a:solidFill>
                  <a:schemeClr val="accent6"/>
                </a:solidFill>
                <a:latin typeface="Consolas" panose="020B0609020204030204" pitchFamily="49" charset="0"/>
              </a:rPr>
              <a:t>команда</a:t>
            </a:r>
            <a:r>
              <a:rPr lang="en-US" dirty="0">
                <a:solidFill>
                  <a:schemeClr val="accent6"/>
                </a:solidFill>
                <a:latin typeface="Consolas" panose="020B0609020204030204" pitchFamily="49" charset="0"/>
              </a:rPr>
              <a:t>}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chemeClr val="accent2"/>
                </a:solidFill>
                <a:latin typeface="Consolas" panose="020B0609020204030204" pitchFamily="49" charset="0"/>
              </a:rPr>
              <a:t>[</a:t>
            </a:r>
            <a:r>
              <a:rPr lang="ru-RU" dirty="0">
                <a:solidFill>
                  <a:schemeClr val="accent2"/>
                </a:solidFill>
                <a:latin typeface="Consolas" panose="020B0609020204030204" pitchFamily="49" charset="0"/>
              </a:rPr>
              <a:t>поток</a:t>
            </a:r>
            <a:r>
              <a:rPr lang="en-US" dirty="0">
                <a:solidFill>
                  <a:schemeClr val="accent2"/>
                </a:solidFill>
                <a:latin typeface="Consolas" panose="020B0609020204030204" pitchFamily="49" charset="0"/>
              </a:rPr>
              <a:t>]</a:t>
            </a:r>
            <a:r>
              <a:rPr lang="en-US" dirty="0">
                <a:latin typeface="Consolas" panose="020B0609020204030204" pitchFamily="49" charset="0"/>
              </a:rPr>
              <a:t>&gt; 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{</a:t>
            </a:r>
            <a:r>
              <a:rPr lang="ru-RU" dirty="0">
                <a:solidFill>
                  <a:schemeClr val="accent1"/>
                </a:solidFill>
                <a:latin typeface="Consolas" panose="020B0609020204030204" pitchFamily="49" charset="0"/>
              </a:rPr>
              <a:t>файл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}</a:t>
            </a:r>
          </a:p>
          <a:p>
            <a:pPr marL="173038" indent="0">
              <a:lnSpc>
                <a:spcPct val="87000"/>
              </a:lnSpc>
              <a:buNone/>
            </a:pPr>
            <a:r>
              <a:rPr lang="ru-RU" dirty="0"/>
              <a:t>позволяет перенаправить вывод </a:t>
            </a:r>
            <a:r>
              <a:rPr lang="ru-RU" i="1" dirty="0"/>
              <a:t>команды</a:t>
            </a:r>
            <a:r>
              <a:rPr lang="ru-RU" dirty="0"/>
              <a:t> из </a:t>
            </a:r>
            <a:r>
              <a:rPr lang="ru-RU" i="1" dirty="0"/>
              <a:t>потока</a:t>
            </a:r>
            <a:r>
              <a:rPr lang="ru-RU" dirty="0"/>
              <a:t> в </a:t>
            </a:r>
            <a:r>
              <a:rPr lang="ru-RU" i="1" dirty="0"/>
              <a:t>файл</a:t>
            </a:r>
            <a:r>
              <a:rPr lang="ru-RU" dirty="0"/>
              <a:t>. Если поток не указан, то используется стандартный поток вывода (</a:t>
            </a:r>
            <a:r>
              <a:rPr lang="en-US" dirty="0" err="1">
                <a:latin typeface="Consolas" panose="020B0609020204030204" pitchFamily="49" charset="0"/>
              </a:rPr>
              <a:t>stdout</a:t>
            </a:r>
            <a:r>
              <a:rPr lang="en-US" dirty="0"/>
              <a:t>, 1</a:t>
            </a:r>
            <a:r>
              <a:rPr lang="ru-RU" dirty="0"/>
              <a:t>).</a:t>
            </a:r>
          </a:p>
          <a:p>
            <a:pPr>
              <a:lnSpc>
                <a:spcPct val="87000"/>
              </a:lnSpc>
              <a:buClr>
                <a:srgbClr val="FF0000"/>
              </a:buClr>
              <a:buFont typeface="Times New Roman" panose="02020603050405020304" pitchFamily="18" charset="0"/>
              <a:buChar char="⁕"/>
            </a:pPr>
            <a:r>
              <a:rPr lang="ru-RU" dirty="0"/>
              <a:t>Если файла не существует, будет создан новый файл.</a:t>
            </a: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4CEF14B-FCCA-8A3E-52FB-B5824189FC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Практика №2</a:t>
            </a:r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6B7B7B6-6B24-4B8A-D76C-D9C27A2FC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ru-RU"/>
              <a:t>№ </a:t>
            </a:r>
            <a:fld id="{C2001F1C-8CC0-448F-B9F6-3DE357E128D5}" type="slidenum">
              <a:rPr lang="ru-RU" smtClean="0"/>
              <a:pPr/>
              <a:t>42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2521719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6A7502-01AD-E103-567B-B24610C2AA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1B176D-94FF-F1EE-03FD-0994447BE4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Перенаправление потоков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80B03D7-2B21-726A-A6B8-837FFBFD57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Потоки можно перенаправлять не только в файл, но и в другой поток.</a:t>
            </a:r>
          </a:p>
          <a:p>
            <a:r>
              <a:rPr lang="ru-RU" dirty="0"/>
              <a:t>Для перенаправления потоков в другие потоки используются специальные операторы:</a:t>
            </a:r>
          </a:p>
          <a:p>
            <a:pPr marL="0" indent="0" algn="ctr">
              <a:buNone/>
            </a:pPr>
            <a:r>
              <a:rPr lang="en-US" dirty="0">
                <a:solidFill>
                  <a:schemeClr val="accent6"/>
                </a:solidFill>
                <a:latin typeface="Consolas" panose="020B0609020204030204" pitchFamily="49" charset="0"/>
              </a:rPr>
              <a:t>{</a:t>
            </a:r>
            <a:r>
              <a:rPr lang="ru-RU" dirty="0">
                <a:solidFill>
                  <a:schemeClr val="accent6"/>
                </a:solidFill>
                <a:latin typeface="Consolas" panose="020B0609020204030204" pitchFamily="49" charset="0"/>
              </a:rPr>
              <a:t>команда</a:t>
            </a:r>
            <a:r>
              <a:rPr lang="en-US" dirty="0">
                <a:solidFill>
                  <a:schemeClr val="accent6"/>
                </a:solidFill>
                <a:latin typeface="Consolas" panose="020B0609020204030204" pitchFamily="49" charset="0"/>
              </a:rPr>
              <a:t>}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chemeClr val="accent2"/>
                </a:solidFill>
                <a:latin typeface="Consolas" panose="020B0609020204030204" pitchFamily="49" charset="0"/>
              </a:rPr>
              <a:t>[</a:t>
            </a:r>
            <a:r>
              <a:rPr lang="ru-RU" dirty="0">
                <a:solidFill>
                  <a:schemeClr val="accent2"/>
                </a:solidFill>
                <a:latin typeface="Consolas" panose="020B0609020204030204" pitchFamily="49" charset="0"/>
              </a:rPr>
              <a:t>поток1</a:t>
            </a:r>
            <a:r>
              <a:rPr lang="en-US" dirty="0">
                <a:solidFill>
                  <a:schemeClr val="accent2"/>
                </a:solidFill>
                <a:latin typeface="Consolas" panose="020B0609020204030204" pitchFamily="49" charset="0"/>
              </a:rPr>
              <a:t>]</a:t>
            </a:r>
            <a:r>
              <a:rPr lang="en-US" dirty="0">
                <a:latin typeface="Consolas" panose="020B0609020204030204" pitchFamily="49" charset="0"/>
              </a:rPr>
              <a:t>&lt;&amp;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</a:rPr>
              <a:t>{</a:t>
            </a:r>
            <a:r>
              <a:rPr lang="ru-RU" dirty="0">
                <a:solidFill>
                  <a:srgbClr val="0070C0"/>
                </a:solidFill>
                <a:latin typeface="Consolas" panose="020B0609020204030204" pitchFamily="49" charset="0"/>
              </a:rPr>
              <a:t>поток2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</a:rPr>
              <a:t>}</a:t>
            </a:r>
            <a:endParaRPr lang="ru-RU" dirty="0">
              <a:solidFill>
                <a:srgbClr val="0070C0"/>
              </a:solidFill>
              <a:latin typeface="Consolas" panose="020B0609020204030204" pitchFamily="49" charset="0"/>
            </a:endParaRPr>
          </a:p>
          <a:p>
            <a:pPr marL="173038" indent="0">
              <a:buNone/>
            </a:pPr>
            <a:r>
              <a:rPr lang="ru-RU" dirty="0"/>
              <a:t>перенаправит ввод из </a:t>
            </a:r>
            <a:r>
              <a:rPr lang="ru-RU" i="1" dirty="0"/>
              <a:t>потока 2</a:t>
            </a:r>
            <a:r>
              <a:rPr lang="ru-RU" dirty="0"/>
              <a:t> в </a:t>
            </a:r>
            <a:r>
              <a:rPr lang="ru-RU" i="1" dirty="0"/>
              <a:t>поток 1</a:t>
            </a:r>
            <a:r>
              <a:rPr lang="ru-RU" dirty="0"/>
              <a:t> </a:t>
            </a:r>
            <a:r>
              <a:rPr lang="ru-RU" i="1" dirty="0"/>
              <a:t>команды</a:t>
            </a:r>
            <a:r>
              <a:rPr lang="ru-RU" dirty="0"/>
              <a:t>.</a:t>
            </a:r>
          </a:p>
          <a:p>
            <a:pPr marL="0" indent="0" algn="ctr">
              <a:buNone/>
            </a:pPr>
            <a:r>
              <a:rPr lang="en-US" dirty="0">
                <a:solidFill>
                  <a:schemeClr val="accent6"/>
                </a:solidFill>
                <a:latin typeface="Consolas" panose="020B0609020204030204" pitchFamily="49" charset="0"/>
              </a:rPr>
              <a:t>{</a:t>
            </a:r>
            <a:r>
              <a:rPr lang="ru-RU" dirty="0">
                <a:solidFill>
                  <a:schemeClr val="accent6"/>
                </a:solidFill>
                <a:latin typeface="Consolas" panose="020B0609020204030204" pitchFamily="49" charset="0"/>
              </a:rPr>
              <a:t>команда</a:t>
            </a:r>
            <a:r>
              <a:rPr lang="en-US" dirty="0">
                <a:solidFill>
                  <a:schemeClr val="accent6"/>
                </a:solidFill>
                <a:latin typeface="Consolas" panose="020B0609020204030204" pitchFamily="49" charset="0"/>
              </a:rPr>
              <a:t>} </a:t>
            </a:r>
            <a:r>
              <a:rPr lang="en-US" dirty="0">
                <a:solidFill>
                  <a:schemeClr val="accent2"/>
                </a:solidFill>
                <a:latin typeface="Consolas" panose="020B0609020204030204" pitchFamily="49" charset="0"/>
              </a:rPr>
              <a:t>[</a:t>
            </a:r>
            <a:r>
              <a:rPr lang="ru-RU" dirty="0">
                <a:solidFill>
                  <a:schemeClr val="accent2"/>
                </a:solidFill>
                <a:latin typeface="Consolas" panose="020B0609020204030204" pitchFamily="49" charset="0"/>
              </a:rPr>
              <a:t>поток1</a:t>
            </a:r>
            <a:r>
              <a:rPr lang="en-US" dirty="0">
                <a:solidFill>
                  <a:schemeClr val="accent2"/>
                </a:solidFill>
                <a:latin typeface="Consolas" panose="020B0609020204030204" pitchFamily="49" charset="0"/>
              </a:rPr>
              <a:t>]</a:t>
            </a:r>
            <a:r>
              <a:rPr lang="en-US" dirty="0">
                <a:latin typeface="Consolas" panose="020B0609020204030204" pitchFamily="49" charset="0"/>
              </a:rPr>
              <a:t>&gt;&amp;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</a:rPr>
              <a:t>{</a:t>
            </a:r>
            <a:r>
              <a:rPr lang="ru-RU" dirty="0">
                <a:solidFill>
                  <a:srgbClr val="0070C0"/>
                </a:solidFill>
                <a:latin typeface="Consolas" panose="020B0609020204030204" pitchFamily="49" charset="0"/>
              </a:rPr>
              <a:t>поток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</a:rPr>
              <a:t>2}</a:t>
            </a:r>
            <a:endParaRPr lang="ru-RU" dirty="0">
              <a:solidFill>
                <a:srgbClr val="0070C0"/>
              </a:solidFill>
              <a:latin typeface="Consolas" panose="020B0609020204030204" pitchFamily="49" charset="0"/>
            </a:endParaRPr>
          </a:p>
          <a:p>
            <a:pPr marL="173038" indent="0">
              <a:buNone/>
            </a:pPr>
            <a:r>
              <a:rPr lang="ru-RU" dirty="0"/>
              <a:t>перенаправит вывод </a:t>
            </a:r>
            <a:r>
              <a:rPr lang="ru-RU" i="1" dirty="0"/>
              <a:t>команды</a:t>
            </a:r>
            <a:r>
              <a:rPr lang="ru-RU" dirty="0"/>
              <a:t> из </a:t>
            </a:r>
            <a:r>
              <a:rPr lang="ru-RU" i="1" dirty="0"/>
              <a:t>потока 1</a:t>
            </a:r>
            <a:r>
              <a:rPr lang="ru-RU" dirty="0"/>
              <a:t> в </a:t>
            </a:r>
            <a:r>
              <a:rPr lang="ru-RU" i="1" dirty="0"/>
              <a:t>поток 2</a:t>
            </a:r>
            <a:r>
              <a:rPr lang="ru-RU" dirty="0"/>
              <a:t>.</a:t>
            </a:r>
          </a:p>
          <a:p>
            <a:r>
              <a:rPr lang="ru-RU" dirty="0"/>
              <a:t>Если </a:t>
            </a:r>
            <a:r>
              <a:rPr lang="ru-RU" i="1" dirty="0"/>
              <a:t>поток 2</a:t>
            </a:r>
            <a:r>
              <a:rPr lang="ru-RU" dirty="0"/>
              <a:t> отличается от стандартных (0, 1, 2), то будет открыт новый поток.</a:t>
            </a: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86F6DAC7-6994-3F82-75BB-558D868D2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Практика №2</a:t>
            </a:r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78B172A-D1F7-9AA4-7F1F-D9C7475D9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ru-RU"/>
              <a:t>№ </a:t>
            </a:r>
            <a:fld id="{C2001F1C-8CC0-448F-B9F6-3DE357E128D5}" type="slidenum">
              <a:rPr lang="ru-RU" smtClean="0"/>
              <a:pPr/>
              <a:t>43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4879536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24826D-00D3-46A1-D0FD-E70B0DA99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Команда </a:t>
            </a:r>
            <a:r>
              <a:rPr lang="en-US" dirty="0"/>
              <a:t>echo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6379637-9F70-F013-213A-78E1E5362E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Типичный пример перенаправления потоков — заполнение файла информацией.</a:t>
            </a:r>
            <a:r>
              <a:rPr lang="en-US" dirty="0"/>
              <a:t> </a:t>
            </a:r>
            <a:r>
              <a:rPr lang="ru-RU" dirty="0"/>
              <a:t>Рассмотрим команду </a:t>
            </a:r>
            <a:r>
              <a:rPr lang="en-US" dirty="0"/>
              <a:t>echo:</a:t>
            </a:r>
          </a:p>
          <a:p>
            <a:pPr marL="0" indent="0" algn="ctr">
              <a:buNone/>
            </a:pPr>
            <a:r>
              <a:rPr lang="en-US" dirty="0">
                <a:latin typeface="Consolas" panose="020B0609020204030204" pitchFamily="49" charset="0"/>
              </a:rPr>
              <a:t>echo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</a:rPr>
              <a:t>[</a:t>
            </a:r>
            <a:r>
              <a:rPr lang="ru-RU" dirty="0">
                <a:solidFill>
                  <a:srgbClr val="0070C0"/>
                </a:solidFill>
                <a:latin typeface="Consolas" panose="020B0609020204030204" pitchFamily="49" charset="0"/>
              </a:rPr>
              <a:t>строка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</a:rPr>
              <a:t>]</a:t>
            </a:r>
            <a:endParaRPr lang="ru-RU" dirty="0">
              <a:solidFill>
                <a:srgbClr val="0070C0"/>
              </a:solidFill>
              <a:latin typeface="Consolas" panose="020B0609020204030204" pitchFamily="49" charset="0"/>
            </a:endParaRPr>
          </a:p>
          <a:p>
            <a:r>
              <a:rPr lang="ru-RU" dirty="0"/>
              <a:t>Данная команда выводит строку в стандартный поток вывода </a:t>
            </a:r>
            <a:r>
              <a:rPr lang="en-US" dirty="0" err="1">
                <a:latin typeface="Consolas" panose="020B0609020204030204" pitchFamily="49" charset="0"/>
              </a:rPr>
              <a:t>stdout</a:t>
            </a:r>
            <a:r>
              <a:rPr lang="ru-RU" dirty="0"/>
              <a:t>.</a:t>
            </a:r>
          </a:p>
          <a:p>
            <a:r>
              <a:rPr lang="ru-RU" dirty="0"/>
              <a:t>С основном, данная команда используется в скриптах для отображения сообщений, однако у нее может быть другое применение. Если мы перенаправим поток вывода команды в некоторый файл, то весь </a:t>
            </a:r>
            <a:r>
              <a:rPr lang="ru-RU" spc="-20" dirty="0"/>
              <a:t>вывод данной команды (то есть </a:t>
            </a:r>
            <a:r>
              <a:rPr lang="ru-RU" i="1" spc="-20" dirty="0"/>
              <a:t>строка</a:t>
            </a:r>
            <a:r>
              <a:rPr lang="ru-RU" spc="-20" dirty="0"/>
              <a:t>) окажется в файле, а не на экране:</a:t>
            </a:r>
          </a:p>
          <a:p>
            <a:pPr marL="0" indent="0" algn="ctr">
              <a:buNone/>
            </a:pPr>
            <a:r>
              <a:rPr lang="en-US" dirty="0">
                <a:latin typeface="Consolas" panose="020B0609020204030204" pitchFamily="49" charset="0"/>
              </a:rPr>
              <a:t>echo </a:t>
            </a:r>
            <a:r>
              <a:rPr lang="en-US" dirty="0">
                <a:solidFill>
                  <a:srgbClr val="0070C0"/>
                </a:solidFill>
                <a:latin typeface="Consolas" panose="020B0609020204030204" pitchFamily="49" charset="0"/>
              </a:rPr>
              <a:t>“Hello world!”</a:t>
            </a:r>
            <a:r>
              <a:rPr lang="en-US" dirty="0">
                <a:latin typeface="Consolas" panose="020B0609020204030204" pitchFamily="49" charset="0"/>
              </a:rPr>
              <a:t> &gt; </a:t>
            </a:r>
            <a:r>
              <a:rPr lang="en-US" dirty="0">
                <a:solidFill>
                  <a:schemeClr val="accent6"/>
                </a:solidFill>
                <a:latin typeface="Consolas" panose="020B0609020204030204" pitchFamily="49" charset="0"/>
              </a:rPr>
              <a:t>hello.txt</a:t>
            </a: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A155EB0-23CA-F522-BD31-E8133F3EB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Практика №2</a:t>
            </a:r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2D540C4-545E-7FCA-0729-63CC68895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ru-RU"/>
              <a:t>№ </a:t>
            </a:r>
            <a:fld id="{C2001F1C-8CC0-448F-B9F6-3DE357E128D5}" type="slidenum">
              <a:rPr lang="ru-RU" smtClean="0"/>
              <a:pPr/>
              <a:t>44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7255209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D32C3C6-28AB-1AFD-AF54-9A597C8E5A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Использование потоков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C7506D5-72D6-47FB-C630-10404372F4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rgbClr val="FF0000"/>
              </a:buClr>
              <a:buFont typeface="Times New Roman" panose="02020603050405020304" pitchFamily="18" charset="0"/>
              <a:buChar char="⁕"/>
            </a:pPr>
            <a:r>
              <a:rPr lang="ru-RU" dirty="0"/>
              <a:t>Заметим, что при использовании перенаправления потока вывода в файл старый файл полностью перезаписывается.</a:t>
            </a:r>
          </a:p>
          <a:p>
            <a:r>
              <a:rPr lang="ru-RU" dirty="0"/>
              <a:t>Во избежание такой ситуации может быть использована специальная форма перенаправления потоков, которая </a:t>
            </a:r>
            <a:r>
              <a:rPr lang="ru-RU" dirty="0" err="1"/>
              <a:t>дозаписывает</a:t>
            </a:r>
            <a:r>
              <a:rPr lang="ru-RU" dirty="0"/>
              <a:t> информацию в конец файла</a:t>
            </a:r>
            <a:r>
              <a:rPr lang="en-US" dirty="0"/>
              <a:t>/</a:t>
            </a:r>
            <a:r>
              <a:rPr lang="ru-RU" dirty="0"/>
              <a:t>потока:</a:t>
            </a:r>
          </a:p>
          <a:p>
            <a:pPr marL="0" indent="0" algn="ctr">
              <a:buNone/>
            </a:pPr>
            <a:r>
              <a:rPr lang="en-US" dirty="0">
                <a:solidFill>
                  <a:schemeClr val="accent6"/>
                </a:solidFill>
                <a:latin typeface="Consolas" panose="020B0609020204030204" pitchFamily="49" charset="0"/>
              </a:rPr>
              <a:t>{</a:t>
            </a:r>
            <a:r>
              <a:rPr lang="ru-RU" dirty="0">
                <a:solidFill>
                  <a:schemeClr val="accent6"/>
                </a:solidFill>
                <a:latin typeface="Consolas" panose="020B0609020204030204" pitchFamily="49" charset="0"/>
              </a:rPr>
              <a:t>команда</a:t>
            </a:r>
            <a:r>
              <a:rPr lang="en-US" dirty="0">
                <a:solidFill>
                  <a:schemeClr val="accent6"/>
                </a:solidFill>
                <a:latin typeface="Consolas" panose="020B0609020204030204" pitchFamily="49" charset="0"/>
              </a:rPr>
              <a:t>} </a:t>
            </a:r>
            <a:r>
              <a:rPr lang="en-US" dirty="0">
                <a:solidFill>
                  <a:schemeClr val="accent2"/>
                </a:solidFill>
                <a:latin typeface="Consolas" panose="020B0609020204030204" pitchFamily="49" charset="0"/>
              </a:rPr>
              <a:t>[</a:t>
            </a:r>
            <a:r>
              <a:rPr lang="ru-RU" dirty="0">
                <a:solidFill>
                  <a:schemeClr val="accent2"/>
                </a:solidFill>
                <a:latin typeface="Consolas" panose="020B0609020204030204" pitchFamily="49" charset="0"/>
              </a:rPr>
              <a:t>поток</a:t>
            </a:r>
            <a:r>
              <a:rPr lang="en-US" dirty="0">
                <a:solidFill>
                  <a:schemeClr val="accent2"/>
                </a:solidFill>
                <a:latin typeface="Consolas" panose="020B0609020204030204" pitchFamily="49" charset="0"/>
              </a:rPr>
              <a:t>]</a:t>
            </a:r>
            <a:r>
              <a:rPr lang="en-US" dirty="0">
                <a:latin typeface="Consolas" panose="020B0609020204030204" pitchFamily="49" charset="0"/>
              </a:rPr>
              <a:t>&gt;&gt; 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{</a:t>
            </a:r>
            <a:r>
              <a:rPr lang="ru-RU" dirty="0">
                <a:solidFill>
                  <a:schemeClr val="accent1"/>
                </a:solidFill>
                <a:latin typeface="Consolas" panose="020B0609020204030204" pitchFamily="49" charset="0"/>
              </a:rPr>
              <a:t>файл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}</a:t>
            </a:r>
            <a:endParaRPr lang="ru-RU" dirty="0">
              <a:solidFill>
                <a:schemeClr val="accent1"/>
              </a:solidFill>
              <a:latin typeface="Consolas" panose="020B0609020204030204" pitchFamily="49" charset="0"/>
            </a:endParaRPr>
          </a:p>
          <a:p>
            <a:pPr marL="0" indent="0" algn="ctr">
              <a:buNone/>
            </a:pPr>
            <a:r>
              <a:rPr lang="en-US" dirty="0">
                <a:solidFill>
                  <a:schemeClr val="accent6"/>
                </a:solidFill>
                <a:latin typeface="Consolas" panose="020B0609020204030204" pitchFamily="49" charset="0"/>
              </a:rPr>
              <a:t>{</a:t>
            </a:r>
            <a:r>
              <a:rPr lang="ru-RU" dirty="0">
                <a:solidFill>
                  <a:schemeClr val="accent6"/>
                </a:solidFill>
                <a:latin typeface="Consolas" panose="020B0609020204030204" pitchFamily="49" charset="0"/>
              </a:rPr>
              <a:t>команда</a:t>
            </a:r>
            <a:r>
              <a:rPr lang="en-US" dirty="0">
                <a:solidFill>
                  <a:schemeClr val="accent6"/>
                </a:solidFill>
                <a:latin typeface="Consolas" panose="020B0609020204030204" pitchFamily="49" charset="0"/>
              </a:rPr>
              <a:t>} </a:t>
            </a:r>
            <a:r>
              <a:rPr lang="en-US" dirty="0">
                <a:solidFill>
                  <a:schemeClr val="accent2"/>
                </a:solidFill>
                <a:latin typeface="Consolas" panose="020B0609020204030204" pitchFamily="49" charset="0"/>
              </a:rPr>
              <a:t>[</a:t>
            </a:r>
            <a:r>
              <a:rPr lang="ru-RU" dirty="0">
                <a:solidFill>
                  <a:schemeClr val="accent2"/>
                </a:solidFill>
                <a:latin typeface="Consolas" panose="020B0609020204030204" pitchFamily="49" charset="0"/>
              </a:rPr>
              <a:t>поток</a:t>
            </a:r>
            <a:r>
              <a:rPr lang="en-US" dirty="0">
                <a:solidFill>
                  <a:schemeClr val="accent2"/>
                </a:solidFill>
                <a:latin typeface="Consolas" panose="020B0609020204030204" pitchFamily="49" charset="0"/>
              </a:rPr>
              <a:t>]</a:t>
            </a:r>
            <a:r>
              <a:rPr lang="en-US" dirty="0">
                <a:latin typeface="Consolas" panose="020B0609020204030204" pitchFamily="49" charset="0"/>
              </a:rPr>
              <a:t>&lt;&lt; 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{</a:t>
            </a:r>
            <a:r>
              <a:rPr lang="ru-RU" dirty="0">
                <a:solidFill>
                  <a:schemeClr val="accent1"/>
                </a:solidFill>
                <a:latin typeface="Consolas" panose="020B0609020204030204" pitchFamily="49" charset="0"/>
              </a:rPr>
              <a:t>файл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}</a:t>
            </a:r>
            <a:endParaRPr lang="ru-RU" dirty="0"/>
          </a:p>
          <a:p>
            <a:pPr>
              <a:buClr>
                <a:srgbClr val="FF0000"/>
              </a:buClr>
              <a:buFont typeface="Times New Roman" panose="02020603050405020304" pitchFamily="18" charset="0"/>
              <a:buChar char="⁕"/>
            </a:pPr>
            <a:r>
              <a:rPr lang="ru-RU" spc="-20" dirty="0"/>
              <a:t>Результат выполнения </a:t>
            </a:r>
            <a:r>
              <a:rPr lang="ru-RU" u="sng" spc="-20" dirty="0"/>
              <a:t>любой</a:t>
            </a:r>
            <a:r>
              <a:rPr lang="ru-RU" spc="-20" dirty="0"/>
              <a:t> команды может быть перенаправлен в файл.</a:t>
            </a:r>
          </a:p>
          <a:p>
            <a:pPr marL="358775" indent="-358775">
              <a:buClr>
                <a:schemeClr val="accent1"/>
              </a:buClr>
              <a:buFont typeface="Arial" panose="020B0604020202020204" pitchFamily="34" charset="0"/>
              <a:buChar char="☼"/>
            </a:pPr>
            <a:r>
              <a:rPr lang="ru-RU" dirty="0"/>
              <a:t>Создайте файл и заполните его информацией о себе (ФИО, группа). Затем удостоверьтесь, что информация в файле соответствует введенной.</a:t>
            </a:r>
            <a:endParaRPr lang="en-US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C5EDC2F-EF23-6764-159B-B16649BEB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Практика №2</a:t>
            </a:r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31CA330-B5A5-2258-CFEF-DFAABB2EA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ru-RU"/>
              <a:t>№ </a:t>
            </a:r>
            <a:fld id="{C2001F1C-8CC0-448F-B9F6-3DE357E128D5}" type="slidenum">
              <a:rPr lang="ru-RU" smtClean="0"/>
              <a:pPr/>
              <a:t>45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25713095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CAEA1B-CB5F-CC31-68EF-77DB7BC5A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Использование потоков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5F895B2-43B4-9C29-89F1-6D03DFEE18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А что если нам нужно попытаться получить вывод одной команды, чтобы использовать его в другой команде?</a:t>
            </a:r>
          </a:p>
          <a:p>
            <a:r>
              <a:rPr lang="ru-RU" dirty="0"/>
              <a:t>Например, если мы хотим просмотреть содержимое каталога </a:t>
            </a:r>
            <a:r>
              <a:rPr lang="en-US" dirty="0"/>
              <a:t>/</a:t>
            </a:r>
            <a:r>
              <a:rPr lang="en-US" dirty="0" err="1"/>
              <a:t>etc</a:t>
            </a:r>
            <a:r>
              <a:rPr lang="ru-RU" dirty="0"/>
              <a:t> в виде подробного списка с помощью </a:t>
            </a:r>
            <a:r>
              <a:rPr lang="en-US" dirty="0">
                <a:latin typeface="Consolas" panose="020B0609020204030204" pitchFamily="49" charset="0"/>
              </a:rPr>
              <a:t>ls -l</a:t>
            </a:r>
            <a:r>
              <a:rPr lang="ru-RU" dirty="0"/>
              <a:t>, то, скорее всего, вся информация не влезет на экран, поэтому было бы удобно вывод команды отправить на просмотр в </a:t>
            </a:r>
            <a:r>
              <a:rPr lang="en-US" dirty="0"/>
              <a:t>less</a:t>
            </a:r>
            <a:r>
              <a:rPr lang="ru-RU" dirty="0"/>
              <a:t>. Это можно сделать следующим образом:</a:t>
            </a:r>
          </a:p>
          <a:p>
            <a:pPr marL="890588" indent="-514350">
              <a:buFont typeface="+mj-lt"/>
              <a:buAutoNum type="arabicPeriod"/>
            </a:pPr>
            <a:r>
              <a:rPr lang="ru-RU" dirty="0"/>
              <a:t>Перенаправить вывод команды </a:t>
            </a:r>
            <a:r>
              <a:rPr lang="en-US" dirty="0">
                <a:latin typeface="Consolas" panose="020B0609020204030204" pitchFamily="49" charset="0"/>
              </a:rPr>
              <a:t>ls -l /</a:t>
            </a:r>
            <a:r>
              <a:rPr lang="en-US" dirty="0" err="1">
                <a:latin typeface="Consolas" panose="020B0609020204030204" pitchFamily="49" charset="0"/>
              </a:rPr>
              <a:t>etc</a:t>
            </a:r>
            <a:r>
              <a:rPr lang="en-US" dirty="0"/>
              <a:t> </a:t>
            </a:r>
            <a:r>
              <a:rPr lang="ru-RU" dirty="0"/>
              <a:t>в файл </a:t>
            </a:r>
            <a:r>
              <a:rPr lang="en-US" dirty="0"/>
              <a:t>tmp.txt.</a:t>
            </a:r>
            <a:endParaRPr lang="ru-RU" dirty="0"/>
          </a:p>
          <a:p>
            <a:pPr marL="890588" indent="-514350">
              <a:buFont typeface="+mj-lt"/>
              <a:buAutoNum type="arabicPeriod"/>
            </a:pPr>
            <a:r>
              <a:rPr lang="ru-RU" dirty="0"/>
              <a:t>Просмотреть файл </a:t>
            </a:r>
            <a:r>
              <a:rPr lang="en-US" dirty="0">
                <a:latin typeface="Consolas" panose="020B0609020204030204" pitchFamily="49" charset="0"/>
              </a:rPr>
              <a:t>tmp.txt</a:t>
            </a:r>
            <a:r>
              <a:rPr lang="en-US" dirty="0"/>
              <a:t> </a:t>
            </a:r>
            <a:r>
              <a:rPr lang="ru-RU" dirty="0"/>
              <a:t>с помощью </a:t>
            </a:r>
            <a:r>
              <a:rPr lang="en-US" dirty="0">
                <a:latin typeface="Consolas" panose="020B0609020204030204" pitchFamily="49" charset="0"/>
              </a:rPr>
              <a:t>less tmp.txt</a:t>
            </a:r>
            <a:r>
              <a:rPr lang="ru-RU" dirty="0"/>
              <a:t>.</a:t>
            </a:r>
            <a:endParaRPr lang="en-US" dirty="0"/>
          </a:p>
          <a:p>
            <a:pPr marL="890588" indent="-514350">
              <a:buFont typeface="+mj-lt"/>
              <a:buAutoNum type="arabicPeriod"/>
            </a:pPr>
            <a:r>
              <a:rPr lang="ru-RU" dirty="0"/>
              <a:t>Удалить файл </a:t>
            </a:r>
            <a:r>
              <a:rPr lang="en-US" dirty="0"/>
              <a:t>tmp.txt</a:t>
            </a:r>
            <a:r>
              <a:rPr lang="ru-RU" dirty="0"/>
              <a:t>.</a:t>
            </a: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E98F3CD-3CE1-38A5-96BB-F4EC7F29CD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Практика №2</a:t>
            </a:r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A501C580-45F2-B04F-761E-EE075F63F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ru-RU"/>
              <a:t>№ </a:t>
            </a:r>
            <a:fld id="{C2001F1C-8CC0-448F-B9F6-3DE357E128D5}" type="slidenum">
              <a:rPr lang="ru-RU" smtClean="0"/>
              <a:pPr/>
              <a:t>46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3058171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9F0279-5892-B69E-FD18-C2E569E7CA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Конвеерная</a:t>
            </a:r>
            <a:r>
              <a:rPr lang="ru-RU" dirty="0"/>
              <a:t> обработка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6D74B3A-1B24-E2FF-598E-DF956F1EF8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Операционные системы позволяют осуществить такое действие с помощью </a:t>
            </a:r>
            <a:r>
              <a:rPr lang="ru-RU" i="1" dirty="0" err="1"/>
              <a:t>конвеера</a:t>
            </a:r>
            <a:r>
              <a:rPr lang="ru-RU" dirty="0"/>
              <a:t> (англ. </a:t>
            </a:r>
            <a:r>
              <a:rPr lang="en-US" i="1" dirty="0"/>
              <a:t>pipeline</a:t>
            </a:r>
            <a:r>
              <a:rPr lang="ru-RU" dirty="0"/>
              <a:t>) — то есть направить вывод одной команды на вход другой.</a:t>
            </a:r>
          </a:p>
          <a:p>
            <a:r>
              <a:rPr lang="ru-RU" dirty="0"/>
              <a:t>Это осуществляется с помощью специального оператора вертикальная черта:</a:t>
            </a:r>
          </a:p>
          <a:p>
            <a:pPr marL="0" indent="0" algn="ctr">
              <a:buNone/>
            </a:pPr>
            <a:r>
              <a:rPr lang="en-US" dirty="0">
                <a:solidFill>
                  <a:schemeClr val="accent6"/>
                </a:solidFill>
                <a:latin typeface="Consolas" panose="020B0609020204030204" pitchFamily="49" charset="0"/>
              </a:rPr>
              <a:t>{</a:t>
            </a:r>
            <a:r>
              <a:rPr lang="ru-RU" dirty="0">
                <a:solidFill>
                  <a:schemeClr val="accent6"/>
                </a:solidFill>
                <a:latin typeface="Consolas" panose="020B0609020204030204" pitchFamily="49" charset="0"/>
              </a:rPr>
              <a:t>команда1</a:t>
            </a:r>
            <a:r>
              <a:rPr lang="en-US" dirty="0">
                <a:solidFill>
                  <a:schemeClr val="accent6"/>
                </a:solidFill>
                <a:latin typeface="Consolas" panose="020B0609020204030204" pitchFamily="49" charset="0"/>
              </a:rPr>
              <a:t>}</a:t>
            </a:r>
            <a:r>
              <a:rPr lang="ru-RU" dirty="0">
                <a:latin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</a:rPr>
              <a:t>| 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{</a:t>
            </a:r>
            <a:r>
              <a:rPr lang="ru-RU" dirty="0">
                <a:solidFill>
                  <a:schemeClr val="accent1"/>
                </a:solidFill>
                <a:latin typeface="Consolas" panose="020B0609020204030204" pitchFamily="49" charset="0"/>
              </a:rPr>
              <a:t>команда2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}</a:t>
            </a:r>
            <a:endParaRPr lang="ru-RU" dirty="0">
              <a:solidFill>
                <a:schemeClr val="accent1"/>
              </a:solidFill>
              <a:latin typeface="Consolas" panose="020B0609020204030204" pitchFamily="49" charset="0"/>
            </a:endParaRPr>
          </a:p>
          <a:p>
            <a:pPr marL="173038" indent="0">
              <a:buNone/>
            </a:pPr>
            <a:r>
              <a:rPr lang="ru-RU" dirty="0"/>
              <a:t>что направит вывод </a:t>
            </a:r>
            <a:r>
              <a:rPr lang="ru-RU" i="1" dirty="0"/>
              <a:t>команды 1</a:t>
            </a:r>
            <a:r>
              <a:rPr lang="ru-RU" dirty="0"/>
              <a:t> на вход </a:t>
            </a:r>
            <a:r>
              <a:rPr lang="ru-RU" i="1" dirty="0"/>
              <a:t>команды 2</a:t>
            </a:r>
            <a:r>
              <a:rPr lang="ru-RU" dirty="0"/>
              <a:t>.</a:t>
            </a:r>
            <a:endParaRPr lang="en-US" dirty="0"/>
          </a:p>
          <a:p>
            <a:r>
              <a:rPr lang="ru-RU" dirty="0"/>
              <a:t>Тогда, задача просмотра содержимого упрощается в виде</a:t>
            </a:r>
          </a:p>
          <a:p>
            <a:pPr marL="0" indent="0" algn="ctr">
              <a:buNone/>
            </a:pPr>
            <a:r>
              <a:rPr lang="en-US" dirty="0">
                <a:solidFill>
                  <a:schemeClr val="accent6"/>
                </a:solidFill>
                <a:latin typeface="Consolas" panose="020B0609020204030204" pitchFamily="49" charset="0"/>
              </a:rPr>
              <a:t>ls -l /</a:t>
            </a:r>
            <a:r>
              <a:rPr lang="en-US" dirty="0" err="1">
                <a:solidFill>
                  <a:schemeClr val="accent6"/>
                </a:solidFill>
                <a:latin typeface="Consolas" panose="020B0609020204030204" pitchFamily="49" charset="0"/>
              </a:rPr>
              <a:t>etc</a:t>
            </a:r>
            <a:r>
              <a:rPr lang="en-US" dirty="0">
                <a:latin typeface="Consolas" panose="020B0609020204030204" pitchFamily="49" charset="0"/>
              </a:rPr>
              <a:t> | 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less</a:t>
            </a:r>
            <a:endParaRPr lang="ru-RU" dirty="0">
              <a:solidFill>
                <a:schemeClr val="accent1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8E5FE15C-2E22-EF00-097C-77D32E3932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Практика №2</a:t>
            </a:r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4C56E8D-5417-3AE8-BB06-53DC9D172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ru-RU"/>
              <a:t>№ </a:t>
            </a:r>
            <a:fld id="{C2001F1C-8CC0-448F-B9F6-3DE357E128D5}" type="slidenum">
              <a:rPr lang="ru-RU" smtClean="0"/>
              <a:pPr/>
              <a:t>47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7683075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89CECC-7112-58F0-3019-DC2911DAC4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Конвеерная</a:t>
            </a:r>
            <a:r>
              <a:rPr lang="ru-RU" dirty="0"/>
              <a:t> обработка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C1A4415-BA84-8987-2584-40B041518E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Несколько заданий:</a:t>
            </a:r>
          </a:p>
          <a:p>
            <a:pPr marL="358775" indent="-358775">
              <a:buClr>
                <a:schemeClr val="accent1"/>
              </a:buClr>
              <a:buFont typeface="Arial" panose="020B0604020202020204" pitchFamily="34" charset="0"/>
              <a:buChar char="☼"/>
            </a:pPr>
            <a:r>
              <a:rPr lang="ru-RU" dirty="0"/>
              <a:t>Сохраните информацию о файлах в каталоге </a:t>
            </a:r>
            <a:r>
              <a:rPr lang="en-US" dirty="0"/>
              <a:t>/bin/</a:t>
            </a:r>
            <a:r>
              <a:rPr lang="ru-RU" dirty="0"/>
              <a:t> в файл </a:t>
            </a:r>
            <a:r>
              <a:rPr lang="en-US" dirty="0"/>
              <a:t>binary.txt</a:t>
            </a:r>
            <a:r>
              <a:rPr lang="ru-RU" dirty="0"/>
              <a:t>.</a:t>
            </a:r>
          </a:p>
          <a:p>
            <a:pPr marL="358775" indent="-358775">
              <a:buClr>
                <a:schemeClr val="accent1"/>
              </a:buClr>
              <a:buFont typeface="Arial" panose="020B0604020202020204" pitchFamily="34" charset="0"/>
              <a:buChar char="☼"/>
            </a:pPr>
            <a:r>
              <a:rPr lang="ru-RU" dirty="0"/>
              <a:t>Найдите все файлы с расширением </a:t>
            </a:r>
            <a:r>
              <a:rPr lang="en-US" dirty="0"/>
              <a:t>.so </a:t>
            </a:r>
            <a:r>
              <a:rPr lang="ru-RU" dirty="0"/>
              <a:t>в каталоге </a:t>
            </a:r>
            <a:r>
              <a:rPr lang="en-US" dirty="0"/>
              <a:t>/</a:t>
            </a:r>
            <a:r>
              <a:rPr lang="en-US" dirty="0" err="1"/>
              <a:t>usr</a:t>
            </a:r>
            <a:r>
              <a:rPr lang="en-US" dirty="0"/>
              <a:t>/lib </a:t>
            </a:r>
            <a:r>
              <a:rPr lang="ru-RU" dirty="0"/>
              <a:t>и просмотрите их</a:t>
            </a:r>
            <a:r>
              <a:rPr lang="en-US" dirty="0"/>
              <a:t>.</a:t>
            </a:r>
            <a:endParaRPr lang="ru-RU" dirty="0"/>
          </a:p>
          <a:p>
            <a:pPr marL="358775" indent="-358775">
              <a:buClr>
                <a:schemeClr val="accent1"/>
              </a:buClr>
              <a:buFont typeface="Arial" panose="020B0604020202020204" pitchFamily="34" charset="0"/>
              <a:buChar char="☼"/>
            </a:pPr>
            <a:r>
              <a:rPr lang="ru-RU" dirty="0"/>
              <a:t>Объедините файлы </a:t>
            </a:r>
            <a:r>
              <a:rPr lang="en-US" dirty="0"/>
              <a:t>/var/log/syslog </a:t>
            </a:r>
            <a:r>
              <a:rPr lang="ru-RU" dirty="0"/>
              <a:t>и </a:t>
            </a:r>
            <a:r>
              <a:rPr lang="en-US" dirty="0"/>
              <a:t>/var/log/</a:t>
            </a:r>
            <a:r>
              <a:rPr lang="en-US" dirty="0" err="1"/>
              <a:t>dmesg</a:t>
            </a:r>
            <a:r>
              <a:rPr lang="ru-RU" dirty="0"/>
              <a:t> и просмотрите результат.</a:t>
            </a:r>
          </a:p>
          <a:p>
            <a:pPr marL="358775" indent="-358775">
              <a:buClr>
                <a:srgbClr val="FF0000"/>
              </a:buClr>
              <a:buFont typeface="Arial" panose="020B0604020202020204" pitchFamily="34" charset="0"/>
              <a:buChar char="☼"/>
            </a:pPr>
            <a:r>
              <a:rPr lang="ru-RU" dirty="0"/>
              <a:t>Объедините файлы </a:t>
            </a:r>
            <a:r>
              <a:rPr lang="en-US" dirty="0"/>
              <a:t>/var/log/syslog </a:t>
            </a:r>
            <a:r>
              <a:rPr lang="ru-RU" dirty="0"/>
              <a:t>и </a:t>
            </a:r>
            <a:r>
              <a:rPr lang="en-US" dirty="0"/>
              <a:t>/var/log/</a:t>
            </a:r>
            <a:r>
              <a:rPr lang="en-US" dirty="0" err="1"/>
              <a:t>dmesg</a:t>
            </a:r>
            <a:r>
              <a:rPr lang="ru-RU" dirty="0"/>
              <a:t>, найдите строки содержащие слово </a:t>
            </a:r>
            <a:r>
              <a:rPr lang="en-US" dirty="0"/>
              <a:t>kernel</a:t>
            </a:r>
            <a:r>
              <a:rPr lang="ru-RU" dirty="0"/>
              <a:t> и просмотрите результат.</a:t>
            </a: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06E7A39-1248-9284-CDC5-6331D92B3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Практика №2</a:t>
            </a:r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068CAC3-9ACA-DAF3-9DE8-4B61B4212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ru-RU"/>
              <a:t>№ </a:t>
            </a:r>
            <a:fld id="{C2001F1C-8CC0-448F-B9F6-3DE357E128D5}" type="slidenum">
              <a:rPr lang="ru-RU" smtClean="0"/>
              <a:pPr/>
              <a:t>48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0469117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AA80F76-D83D-F937-B6E0-CE080E87B4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Игнорирование ошибок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723A3BE-F714-7395-96F8-12DD0BA9ED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95000"/>
              </a:lnSpc>
              <a:buClr>
                <a:srgbClr val="FF0000"/>
              </a:buClr>
              <a:buFont typeface="Times New Roman" panose="02020603050405020304" pitchFamily="18" charset="0"/>
              <a:buChar char="⁕"/>
            </a:pPr>
            <a:r>
              <a:rPr lang="ru-RU" dirty="0"/>
              <a:t>С помощью перенаправления потоков можно также подавлять ошибочные сообщения из потока </a:t>
            </a:r>
            <a:r>
              <a:rPr lang="en-US" dirty="0" err="1">
                <a:latin typeface="Consolas" panose="020B0609020204030204" pitchFamily="49" charset="0"/>
              </a:rPr>
              <a:t>stdout</a:t>
            </a:r>
            <a:r>
              <a:rPr lang="ru-RU" dirty="0"/>
              <a:t>, чтобы они не засоряли стандартный вывод в консоль. Для этого в </a:t>
            </a:r>
            <a:r>
              <a:rPr lang="en-US" dirty="0"/>
              <a:t>Linux </a:t>
            </a:r>
            <a:r>
              <a:rPr lang="ru-RU" dirty="0"/>
              <a:t>предусмотрен специальный файл, расположенный по пути </a:t>
            </a:r>
            <a:r>
              <a:rPr lang="en-US" dirty="0">
                <a:latin typeface="Consolas" panose="020B0609020204030204" pitchFamily="49" charset="0"/>
              </a:rPr>
              <a:t>/dev/null</a:t>
            </a:r>
            <a:r>
              <a:rPr lang="ru-RU" dirty="0"/>
              <a:t>. Что он из себя представляет, и какие еще подобные файлы есть, мы разберем позже.</a:t>
            </a:r>
          </a:p>
          <a:p>
            <a:pPr>
              <a:lnSpc>
                <a:spcPct val="95000"/>
              </a:lnSpc>
              <a:buClr>
                <a:srgbClr val="FF0000"/>
              </a:buClr>
              <a:buFont typeface="Times New Roman" panose="02020603050405020304" pitchFamily="18" charset="0"/>
              <a:buChar char="⁕"/>
            </a:pPr>
            <a:r>
              <a:rPr lang="ru-RU" dirty="0"/>
              <a:t>Данный файл позволяет отправлять в себя всю ненужную информацию без вреда для системы.</a:t>
            </a:r>
          </a:p>
          <a:p>
            <a:pPr>
              <a:lnSpc>
                <a:spcPct val="95000"/>
              </a:lnSpc>
            </a:pPr>
            <a:r>
              <a:rPr lang="ru-RU" dirty="0"/>
              <a:t>Пример: поиск с помощью </a:t>
            </a:r>
            <a:r>
              <a:rPr lang="en-US" dirty="0"/>
              <a:t>find </a:t>
            </a:r>
            <a:r>
              <a:rPr lang="ru-RU" dirty="0"/>
              <a:t>по всей системе гарантированно где-то выдаст ошибки прав доступа, поэтому для их подавления можно использовать следующую команду:</a:t>
            </a:r>
          </a:p>
          <a:p>
            <a:pPr marL="0" indent="0" algn="ctr">
              <a:lnSpc>
                <a:spcPct val="95000"/>
              </a:lnSpc>
              <a:buNone/>
            </a:pPr>
            <a:r>
              <a:rPr lang="en-US" dirty="0">
                <a:latin typeface="Consolas" panose="020B0609020204030204" pitchFamily="49" charset="0"/>
              </a:rPr>
              <a:t>find / </a:t>
            </a:r>
            <a:r>
              <a:rPr lang="en-US" dirty="0">
                <a:solidFill>
                  <a:schemeClr val="accent1"/>
                </a:solidFill>
                <a:latin typeface="Consolas" panose="020B0609020204030204" pitchFamily="49" charset="0"/>
              </a:rPr>
              <a:t>{…}</a:t>
            </a:r>
            <a:r>
              <a:rPr lang="en-US" dirty="0"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chemeClr val="accent2"/>
                </a:solidFill>
                <a:latin typeface="Consolas" panose="020B0609020204030204" pitchFamily="49" charset="0"/>
              </a:rPr>
              <a:t>2</a:t>
            </a:r>
            <a:r>
              <a:rPr lang="en-US" dirty="0">
                <a:latin typeface="Consolas" panose="020B0609020204030204" pitchFamily="49" charset="0"/>
              </a:rPr>
              <a:t>&gt; </a:t>
            </a:r>
            <a:r>
              <a:rPr lang="en-US" dirty="0">
                <a:solidFill>
                  <a:schemeClr val="accent6"/>
                </a:solidFill>
                <a:latin typeface="Consolas" panose="020B0609020204030204" pitchFamily="49" charset="0"/>
              </a:rPr>
              <a:t>/dev/null</a:t>
            </a:r>
            <a:endParaRPr lang="ru-RU" dirty="0">
              <a:solidFill>
                <a:schemeClr val="accent6"/>
              </a:solidFill>
              <a:latin typeface="Consolas" panose="020B0609020204030204" pitchFamily="49" charset="0"/>
            </a:endParaRP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B82E1126-EACD-0DB3-1333-ED5640CC9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Практика №2</a:t>
            </a:r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D8958BB-C10B-3FC3-9BDB-658CDFB39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ru-RU"/>
              <a:t>№ </a:t>
            </a:r>
            <a:fld id="{C2001F1C-8CC0-448F-B9F6-3DE357E128D5}" type="slidenum">
              <a:rPr lang="ru-RU" smtClean="0"/>
              <a:pPr/>
              <a:t>49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3062268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D4CC687E-87E1-F624-5BF5-072803CEBD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Мы дошли до сюда</a:t>
            </a:r>
          </a:p>
        </p:txBody>
      </p:sp>
      <p:sp>
        <p:nvSpPr>
          <p:cNvPr id="7" name="Объект 6">
            <a:extLst>
              <a:ext uri="{FF2B5EF4-FFF2-40B4-BE49-F238E27FC236}">
                <a16:creationId xmlns:a16="http://schemas.microsoft.com/office/drawing/2014/main" id="{CE2197CF-0F0D-E63A-88A2-3E0B4E9B71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0206" y="1552356"/>
            <a:ext cx="6827202" cy="4617216"/>
          </a:xfrm>
        </p:spPr>
        <p:txBody>
          <a:bodyPr anchor="ctr">
            <a:normAutofit/>
          </a:bodyPr>
          <a:lstStyle/>
          <a:p>
            <a:pPr marL="0" indent="0" algn="ctr">
              <a:buNone/>
            </a:pPr>
            <a:r>
              <a:rPr lang="ru-RU" sz="3200" dirty="0"/>
              <a:t>Пока что хватит.</a:t>
            </a:r>
          </a:p>
          <a:p>
            <a:pPr marL="0" indent="0" algn="ctr">
              <a:buNone/>
            </a:pPr>
            <a:r>
              <a:rPr lang="ru-RU" sz="3200" dirty="0"/>
              <a:t>Итак слишком много команд, возможно все не до конца уложится.</a:t>
            </a: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9121236-9297-BD44-4152-FAF2587111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Практика №2</a:t>
            </a:r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BD70552-AA5D-B194-F3E1-74E5EA1C1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ru-RU"/>
              <a:t>№ </a:t>
            </a:r>
            <a:fld id="{C2001F1C-8CC0-448F-B9F6-3DE357E128D5}" type="slidenum">
              <a:rPr lang="ru-RU" smtClean="0"/>
              <a:pPr/>
              <a:t>50</a:t>
            </a:fld>
            <a:endParaRPr lang="ru-RU" dirty="0"/>
          </a:p>
        </p:txBody>
      </p:sp>
      <p:pic>
        <p:nvPicPr>
          <p:cNvPr id="1026" name="Picture 2" descr="устал чтоделать GIF - Устал Чтоделать Проблемы - Discover &amp; Share GIFs">
            <a:extLst>
              <a:ext uri="{FF2B5EF4-FFF2-40B4-BE49-F238E27FC236}">
                <a16:creationId xmlns:a16="http://schemas.microsoft.com/office/drawing/2014/main" id="{70930FE8-8F7C-2A9F-68FE-CD11889DC9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3263" y="1552356"/>
            <a:ext cx="3694097" cy="4617216"/>
          </a:xfrm>
          <a:prstGeom prst="rect">
            <a:avLst/>
          </a:prstGeom>
          <a:noFill/>
          <a:ln w="57150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4192833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Текст 5">
            <a:extLst>
              <a:ext uri="{FF2B5EF4-FFF2-40B4-BE49-F238E27FC236}">
                <a16:creationId xmlns:a16="http://schemas.microsoft.com/office/drawing/2014/main" id="{2AF12815-B2EB-390C-C6EB-F347C2B94EB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1" dirty="0"/>
              <a:t>Вопросы?</a:t>
            </a:r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0DCD09B-7EA4-04DD-555A-84EBD30C4E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u-RU"/>
              <a:t>Практика №2</a:t>
            </a:r>
            <a:endParaRPr 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6AF7363-D5C1-D5E1-4CB9-521667CD3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ru-RU"/>
              <a:t>№ </a:t>
            </a:r>
            <a:fld id="{C2001F1C-8CC0-448F-B9F6-3DE357E128D5}" type="slidenum">
              <a:rPr lang="ru-RU" smtClean="0"/>
              <a:pPr/>
              <a:t>51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63633233"/>
      </p:ext>
    </p:extLst>
  </p:cSld>
  <p:clrMapOvr>
    <a:masterClrMapping/>
  </p:clrMapOvr>
</p:sld>
</file>

<file path=ppt/theme/theme1.xml><?xml version="1.0" encoding="utf-8"?>
<a:theme xmlns:a="http://schemas.openxmlformats.org/drawingml/2006/main" name="Колледж IT практика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Колледж IT практика" id="{3F78F294-25D0-47DF-BBBD-FA6E606FB2A7}" vid="{77AE4007-EBB6-4BFC-A3FE-FE841F375582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Колледж IT практика</Template>
  <TotalTime>1412</TotalTime>
  <Words>3581</Words>
  <Application>Microsoft Office PowerPoint</Application>
  <PresentationFormat>Широкоэкранный</PresentationFormat>
  <Paragraphs>451</Paragraphs>
  <Slides>51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51</vt:i4>
      </vt:variant>
    </vt:vector>
  </HeadingPairs>
  <TitlesOfParts>
    <vt:vector size="58" baseType="lpstr">
      <vt:lpstr>Arial</vt:lpstr>
      <vt:lpstr>Calibri</vt:lpstr>
      <vt:lpstr>Century Gothic</vt:lpstr>
      <vt:lpstr>Consolas</vt:lpstr>
      <vt:lpstr>Times New Roman</vt:lpstr>
      <vt:lpstr>Unbounded</vt:lpstr>
      <vt:lpstr>Колледж IT практика</vt:lpstr>
      <vt:lpstr>Командная оболочка Bash (часть 1)  Терминал Ubuntu Server Основные команды</vt:lpstr>
      <vt:lpstr>Легенда</vt:lpstr>
      <vt:lpstr>Начало работы</vt:lpstr>
      <vt:lpstr>Начало работы</vt:lpstr>
      <vt:lpstr>Командная оболочка Bash</vt:lpstr>
      <vt:lpstr>Узнать информацию о системе</vt:lpstr>
      <vt:lpstr>Использование любой команды</vt:lpstr>
      <vt:lpstr>Использование любой команды</vt:lpstr>
      <vt:lpstr>Использование любой команды</vt:lpstr>
      <vt:lpstr>Использование аргументов</vt:lpstr>
      <vt:lpstr>Склеивание аргументов</vt:lpstr>
      <vt:lpstr>Что такое команда</vt:lpstr>
      <vt:lpstr>Парочка подсказок</vt:lpstr>
      <vt:lpstr>Перемещение по файловой системе</vt:lpstr>
      <vt:lpstr>Перемещение по каталогам</vt:lpstr>
      <vt:lpstr>Перемещение по каталогам</vt:lpstr>
      <vt:lpstr>Перемещение по каталогам</vt:lpstr>
      <vt:lpstr>Перемещение по каталогам</vt:lpstr>
      <vt:lpstr>Перемещение по каталогам</vt:lpstr>
      <vt:lpstr>Перемещение по каталогам</vt:lpstr>
      <vt:lpstr>Перемещение по каталогам</vt:lpstr>
      <vt:lpstr>Презентация PowerPoint</vt:lpstr>
      <vt:lpstr>Вывод информации</vt:lpstr>
      <vt:lpstr>Вывод информации</vt:lpstr>
      <vt:lpstr>Вывод информации</vt:lpstr>
      <vt:lpstr>Презентация PowerPoint</vt:lpstr>
      <vt:lpstr>Вывод информации</vt:lpstr>
      <vt:lpstr>Поиск информации</vt:lpstr>
      <vt:lpstr>Поиск информации</vt:lpstr>
      <vt:lpstr>Поиск информации</vt:lpstr>
      <vt:lpstr>Подстановочный шаблон</vt:lpstr>
      <vt:lpstr>Просмотр больший файлов</vt:lpstr>
      <vt:lpstr>Взаимодействие с файлами и каталогами</vt:lpstr>
      <vt:lpstr>Создание каталогов</vt:lpstr>
      <vt:lpstr>Создание файлов</vt:lpstr>
      <vt:lpstr>Копирование и перемещение</vt:lpstr>
      <vt:lpstr>Копирование и перемещение</vt:lpstr>
      <vt:lpstr>Удаление каталогов</vt:lpstr>
      <vt:lpstr>Удаление файлов</vt:lpstr>
      <vt:lpstr>Потоки</vt:lpstr>
      <vt:lpstr>Потоки ввода/вывода</vt:lpstr>
      <vt:lpstr>Перенаправление потоков</vt:lpstr>
      <vt:lpstr>Перенаправление потоков</vt:lpstr>
      <vt:lpstr>Команда echo</vt:lpstr>
      <vt:lpstr>Использование потоков</vt:lpstr>
      <vt:lpstr>Использование потоков</vt:lpstr>
      <vt:lpstr>Конвеерная обработка</vt:lpstr>
      <vt:lpstr>Конвеерная обработка</vt:lpstr>
      <vt:lpstr>Игнорирование ошибок</vt:lpstr>
      <vt:lpstr>Мы дошли до сюда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Командный интерпретатор Bash (Unix)</dc:title>
  <dc:creator>Эмиль Штейнберг</dc:creator>
  <cp:lastModifiedBy>Эмиль Штейнберг</cp:lastModifiedBy>
  <cp:revision>86</cp:revision>
  <dcterms:created xsi:type="dcterms:W3CDTF">2024-09-08T09:40:38Z</dcterms:created>
  <dcterms:modified xsi:type="dcterms:W3CDTF">2025-07-20T15:31:56Z</dcterms:modified>
</cp:coreProperties>
</file>